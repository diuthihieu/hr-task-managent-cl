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4334044a-e38f-cfa8-5bd9-dc9df55d3944}">
          <p14:sldIdLst>
            <p14:sldId id="256"/>
            <p14:sldId id="257"/>
          </p14:sldIdLst>
        </p14:section>
        <p14:section name="Bắt đầu" id="{73221d14-1f4d-962d-f1d2-70882ddec2c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Làm việc hằng ngày" id="{0cbad4e8-d993-bbf8-671e-31bcd4dfe547}">
          <p14:sldIdLst>
            <p14:sldId id="264"/>
            <p14:sldId id="265"/>
            <p14:sldId id="266"/>
            <p14:sldId id="267"/>
            <p14:sldId id="268"/>
          </p14:sldIdLst>
        </p14:section>
        <p14:section name="Dự án &amp; task" id="{f0333c49-7008-19b9-2c91-e1d449b7d8cf}">
          <p14:sldIdLst>
            <p14:sldId id="269"/>
            <p14:sldId id="270"/>
            <p14:sldId id="271"/>
            <p14:sldId id="272"/>
            <p14:sldId id="273"/>
          </p14:sldIdLst>
        </p14:section>
        <p14:section name="Mục tiêu &amp; tri thức" id="{ed9a34bb-fca4-031d-f5b5-7b4ab0344f4b}">
          <p14:sldIdLst>
            <p14:sldId id="274"/>
            <p14:sldId id="275"/>
            <p14:sldId id="276"/>
            <p14:sldId id="277"/>
            <p14:sldId id="278"/>
          </p14:sldIdLst>
        </p14:section>
        <p14:section name="Trợ lý AI" id="{5801ba1b-c628-28de-c5e1-f19bbd8aa3be}">
          <p14:sldIdLst>
            <p14:sldId id="279"/>
            <p14:sldId id="280"/>
            <p14:sldId id="281"/>
            <p14:sldId id="282"/>
          </p14:sldIdLst>
        </p14:section>
        <p14:section name="Đội nhóm &amp; quản trị" id="{0fbf308a-9ed7-106c-f241-03b600a0eca0}">
          <p14:sldIdLst>
            <p14:sldId id="283"/>
            <p14:sldId id="284"/>
            <p14:sldId id="285"/>
            <p14:sldId id="286"/>
            <p14:sldId id="287"/>
          </p14:sldIdLst>
        </p14:section>
        <p14:section name="Kết thúc" id="{06a96d1a-3dde-8237-0b86-79d635a53cc9}">
          <p14:sldIdLst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Bộ slide hướng dẫn người dùng mới làm quen woli, đi từ đăng nhập đến các tính năng AI. Ảnh chụp dùng tài khoản và dữ liệu minh hoạ.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li Cover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li Section">
    <p:bg>
      <p:bgPr>
        <a:solidFill>
          <a:srgbClr val="EA5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989320"/>
            <a:ext cx="850392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li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36792"/>
            <a:ext cx="475488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63093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</a:rPr>
              <a:t>Hướng dẫn sử dụng woli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C1917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oli logo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1527048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377440" y="822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woli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33172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Hướng dẫn sử dụng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200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EDD5"/>
                </a:solidFill>
              </a:rPr>
              <a:t>Quản lý công việc, mục tiêu và tri thức cho đội ngũ HR - có AI hỗ trợ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29E"/>
                </a:solidFill>
              </a:rPr>
              <a:t>Phiên bản 10/2026  ·  Dữ liệu trong ảnh là dữ liệu minh hoạ</a:t>
            </a:r>
            <a:endParaRPr lang="en-US" sz="1200" dirty="0"/>
          </a:p>
        </p:txBody>
      </p:sp>
      <p:sp>
        <p:nvSpPr>
          <p:cNvPr id="7" name="Cover screenshot frame"/>
          <p:cNvSpPr/>
          <p:nvPr/>
        </p:nvSpPr>
        <p:spPr>
          <a:xfrm>
            <a:off x="7269480" y="1371600"/>
            <a:ext cx="4526280" cy="4160520"/>
          </a:xfrm>
          <a:prstGeom prst="roundRect">
            <a:avLst>
              <a:gd name="adj" fmla="val 2637"/>
            </a:avLst>
          </a:prstGeom>
          <a:solidFill>
            <a:srgbClr val="292524"/>
          </a:solidFill>
          <a:ln w="12700">
            <a:solidFill>
              <a:srgbClr val="44403C"/>
            </a:solidFill>
            <a:prstDash val="solid"/>
          </a:ln>
        </p:spPr>
      </p:sp>
      <p:pic>
        <p:nvPicPr>
          <p:cNvPr id="8" name="Cover screenshot" descr="/tmp/claude-0/-home-user-hr-task-managent-CL/2d11fed8-bdd1-5393-af8f-a94a741e9897/scratchpad/ppt/shots/06-ho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60920" y="1463040"/>
            <a:ext cx="434340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Nội dung</a:t>
            </a:r>
            <a:endParaRPr lang="en-US" sz="3000" dirty="0"/>
          </a:p>
        </p:txBody>
      </p:sp>
      <p:sp>
        <p:nvSpPr>
          <p:cNvPr id="3" name="Agenda card 1"/>
          <p:cNvSpPr/>
          <p:nvPr/>
        </p:nvSpPr>
        <p:spPr>
          <a:xfrm>
            <a:off x="502920" y="1417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8470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46120" y="1691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917"/>
                </a:solidFill>
              </a:rPr>
              <a:t>Bắt đầu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Đăng ký, đăng nhập, quên mật khẩu, chọn workspace</a:t>
            </a:r>
            <a:endParaRPr lang="en-US" sz="1300" dirty="0"/>
          </a:p>
        </p:txBody>
      </p:sp>
      <p:sp>
        <p:nvSpPr>
          <p:cNvPr id="9" name="Agenda card 2"/>
          <p:cNvSpPr/>
          <p:nvPr/>
        </p:nvSpPr>
        <p:spPr>
          <a:xfrm>
            <a:off x="4251960" y="1417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69164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8" y="184708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995160" y="1691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2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917"/>
                </a:solidFill>
              </a:rPr>
              <a:t>Làm việc hằng ngày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Trang chủ, Việc của tôi, Trung tâm xử lý</a:t>
            </a:r>
            <a:endParaRPr lang="en-US" sz="1300" dirty="0"/>
          </a:p>
        </p:txBody>
      </p:sp>
      <p:sp>
        <p:nvSpPr>
          <p:cNvPr id="15" name="Agenda card 3"/>
          <p:cNvSpPr/>
          <p:nvPr/>
        </p:nvSpPr>
        <p:spPr>
          <a:xfrm>
            <a:off x="8001000" y="1417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169164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184708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744200" y="1691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3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917"/>
                </a:solidFill>
              </a:rPr>
              <a:t>Dự án &amp; task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Bảng task, chi tiết task, Kanban, Gantt</a:t>
            </a:r>
            <a:endParaRPr lang="en-US" sz="1300" dirty="0"/>
          </a:p>
        </p:txBody>
      </p:sp>
      <p:sp>
        <p:nvSpPr>
          <p:cNvPr id="21" name="Agenda card 4"/>
          <p:cNvSpPr/>
          <p:nvPr/>
        </p:nvSpPr>
        <p:spPr>
          <a:xfrm>
            <a:off x="502920" y="379476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422452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24612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4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4846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917"/>
                </a:solidFill>
              </a:rPr>
              <a:t>Mục tiêu &amp; tri thức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" y="5257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OKR, Wiki, Second Brain</a:t>
            </a:r>
            <a:endParaRPr lang="en-US" sz="1300" dirty="0"/>
          </a:p>
        </p:txBody>
      </p:sp>
      <p:sp>
        <p:nvSpPr>
          <p:cNvPr id="27" name="Agenda card 5"/>
          <p:cNvSpPr/>
          <p:nvPr/>
        </p:nvSpPr>
        <p:spPr>
          <a:xfrm>
            <a:off x="4251960" y="379476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2628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224528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99516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5</a:t>
            </a:r>
            <a:endParaRPr lang="en-US" sz="2400" dirty="0"/>
          </a:p>
        </p:txBody>
      </p:sp>
      <p:sp>
        <p:nvSpPr>
          <p:cNvPr id="31" name="Text 24"/>
          <p:cNvSpPr txBox="1"/>
          <p:nvPr/>
        </p:nvSpPr>
        <p:spPr>
          <a:xfrm>
            <a:off x="4526280" y="4846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917"/>
                </a:solidFill>
              </a:rPr>
              <a:t>Trợ lý AI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4526280" y="5257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Hỏi AI kèm file, tạo task bằng lời</a:t>
            </a:r>
            <a:endParaRPr lang="en-US" sz="1300" dirty="0"/>
          </a:p>
        </p:txBody>
      </p:sp>
      <p:sp>
        <p:nvSpPr>
          <p:cNvPr id="33" name="Agenda card 6"/>
          <p:cNvSpPr/>
          <p:nvPr/>
        </p:nvSpPr>
        <p:spPr>
          <a:xfrm>
            <a:off x="8001000" y="379476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275320" y="40690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4224528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0744200" y="4069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A580C"/>
                </a:solidFill>
              </a:rPr>
              <a:t>6</a:t>
            </a:r>
            <a:endParaRPr lang="en-US" sz="2400" dirty="0"/>
          </a:p>
        </p:txBody>
      </p:sp>
      <p:sp>
        <p:nvSpPr>
          <p:cNvPr id="37" name="Text 29"/>
          <p:cNvSpPr txBox="1"/>
          <p:nvPr/>
        </p:nvSpPr>
        <p:spPr>
          <a:xfrm>
            <a:off x="8275320" y="4846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917"/>
                </a:solidFill>
              </a:rPr>
              <a:t>Đội nhóm &amp; quản trị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8275320" y="5257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Vinh danh, mời thành viên, Agent Work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1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Bắt đầu với woli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Tạo tài khoản, đăng nhập và vào workspace của bạn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Mở trang chủ woli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1-landing" descr="Mở trang chủ wo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596991" y="1284923"/>
            <a:ext cx="527621" cy="222123"/>
          </a:xfrm>
          <a:prstGeom prst="roundRect">
            <a:avLst>
              <a:gd name="adj" fmla="val 1646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446115" y="113404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446115" y="11340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134709" y="1289971"/>
            <a:ext cx="777036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983833" y="113909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983833" y="11390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Truy cập địa chỉ woli công ty cung cấp trên trình duyệt (máy tính, máy tính bảng hoặc điện thoại).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Đã có tài khoản: bấm Đăng nhập ở góc phải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Chưa có: bấm nút bắt đầu để tạo tài khoản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Có thể xem video giới thiệu ngay trên trang chủ trước khi đăng ký.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Đăng ký tài khoản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2-register" descr="Đăng ký tài khoả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881902" y="2097691"/>
            <a:ext cx="843058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731026" y="194681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731026" y="19468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028748" y="2905411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877872" y="275453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877872" y="27545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028748" y="4220480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877872" y="406960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877872" y="4069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Mỗi người dùng một tài khoản riêng, đăng ký bằng email công việc.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thẻ Đăng ký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họ tên, email công việc, mật khẩu (nhập lại để xác nhận)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Tạo tài khoản, sau đó mở email xác minh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Dùng đúng email được mời để vào ngay workspace của nhóm.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Đăng nhập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3-login" descr="Đăng nhậ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028748" y="2804446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877872" y="265357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877872" y="26535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028748" y="3369850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877872" y="321897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877872" y="32189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266910" y="3026569"/>
            <a:ext cx="478243" cy="111062"/>
          </a:xfrm>
          <a:prstGeom prst="roundRect">
            <a:avLst>
              <a:gd name="adj" fmla="val 329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116034" y="28756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116034" y="28756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9028748" y="3735848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8877872" y="358497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8877872" y="35849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Đăng nhập bằng email/mật khẩu hoặc tài khoản Google, Microsoft (nếu quản trị đã bật).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email và mật khẩu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Đăng nhập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Quên mật khẩu? Bấm để nhận link đặt lại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Hoặc Tiếp tục với Google / Microsoft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Phiên đăng nhập tự hết hạn sau 12 giờ; đổi mật khẩu sẽ đăng xuất các thiết bị khác.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Quên mật khẩu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4-forgot" descr="Quên mật khẩ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028748" y="2987366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877872" y="283649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877872" y="28364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028748" y="3229682"/>
            <a:ext cx="171640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877872" y="307880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877872" y="30788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Tự đặt lại mật khẩu qua email, không cần nhờ quản trị.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email tài khoản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Gửi link đặt lại, mở thư và đặt mật khẩu mới trong 1 giờ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Không thấy thư? Kiểm tra mục Spam. Link chỉ dùng được một lần.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Chọn hoặc tạo workspace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5-workspaces" descr="Chọn hoặc tạo worksp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939219" y="2223897"/>
            <a:ext cx="1023059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788343" y="20730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788343" y="2073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851928" y="1825085"/>
            <a:ext cx="736729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701052" y="167420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701052" y="167420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Workspace là không gian làm việc của một nhóm/phòng ban, gồm dự án, thành viên, OKR, wiki.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vào thẻ workspace để vào làm việc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Hoặc tạo workspace mới - bạn trở thành Chủ sở hữu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Lời mời vào workspace hiện ở đầu trang này: bấm Đồng ý để tham gia.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2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Làm việc hằng ngày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Biết hôm nay cần làm gì và xử lý việc chờ bạn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Trang chủ - bảng điều khiển trong ngày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6-home" descr="Trang chủ - bảng điều khiển trong ngà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4434840" y="1234440"/>
            <a:ext cx="1241870" cy="4341495"/>
          </a:xfrm>
          <a:prstGeom prst="roundRect">
            <a:avLst>
              <a:gd name="adj" fmla="val 294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4325112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4325112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732240" y="1267254"/>
            <a:ext cx="2291906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81364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81364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237015" y="1287447"/>
            <a:ext cx="171641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086139" y="113657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086139" y="113657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0952446" y="1953421"/>
            <a:ext cx="645860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0801570" y="180254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0801570" y="18025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5752433" y="2155351"/>
            <a:ext cx="5845874" cy="444246"/>
          </a:xfrm>
          <a:prstGeom prst="roundRect">
            <a:avLst>
              <a:gd name="adj" fmla="val 82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5601557" y="200447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5601557" y="20044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Mọi thứ cần biết cho hôm nay trên một màn hình.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Thanh điều hướng: Trang chủ, Việc của tôi, AI, OKR, Wiki, dự án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Tìm nhanh task, dự án, người (Ctrl K)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Thông báo mới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Tuỳ chỉnh Home theo cách bạn làm việc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Số liệu trong ngày: quá hạn, hôm nay, đang làm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Bấm vào một con số để mở đúng danh sách task đó.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Tuỳ chỉnh trang chủ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7-home-customize" descr="Tuỳ chỉnh trang ch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770840" y="1234440"/>
            <a:ext cx="1933480" cy="4341495"/>
          </a:xfrm>
          <a:prstGeom prst="roundRect">
            <a:avLst>
              <a:gd name="adj" fmla="val 189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619964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619964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836468" y="2116385"/>
            <a:ext cx="1822418" cy="472958"/>
          </a:xfrm>
          <a:prstGeom prst="roundRect">
            <a:avLst>
              <a:gd name="adj" fmla="val 773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685592" y="196550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685592" y="196550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836468" y="5217509"/>
            <a:ext cx="152504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685592" y="50666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685592" y="50666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Kéo thả widget để trang chủ hiện đúng thứ bạn cần.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bố cục gợi ý (Command center, Deep focus, Team lead…) hoặc tự dựng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Kéo widget vào trang, đổi cỡ S/M/L/XL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Lưu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Lưu thành template để chia sẻ bố cục cho cả nhóm.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Việc của tôi và ghi nhanh ý tưởng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2-my-work" descr="Việc của tôi và ghi nhanh ý tưở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448303" y="1729169"/>
            <a:ext cx="630716" cy="257461"/>
          </a:xfrm>
          <a:prstGeom prst="roundRect">
            <a:avLst>
              <a:gd name="adj" fmla="val 1420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297427" y="15782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297427" y="15782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23109" y="2006822"/>
            <a:ext cx="543688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672233" y="185594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672233" y="18559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5833205" y="2208752"/>
            <a:ext cx="838010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682329" y="205787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682329" y="2057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8538200" y="3715655"/>
            <a:ext cx="274341" cy="80772"/>
          </a:xfrm>
          <a:prstGeom prst="roundRect">
            <a:avLst>
              <a:gd name="adj" fmla="val 4528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8387324" y="356477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8387324" y="35647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Tất cả việc của bạn ở mọi dự án, cùng chỗ ghi nhanh ý tưởng chưa thành task.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tab: Task, OKR, Key result của tôi, ma trận Eisenhower, sắp đến hạn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Ghi nhanh ý tưởng rồi bấm Ghi lại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dự án, category, thời lượng dự kiến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Ý tưởng hiện thành chấm trên quỹ đạo thời gian - kéo để đổi khung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Bấm vào chấm để chuyển ý tưởng thành task khi đã sẵn sàng.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Trung tâm xử lý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5-inbox" descr="Trung tâm xử l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357856" y="1946243"/>
            <a:ext cx="569269" cy="161544"/>
          </a:xfrm>
          <a:prstGeom prst="roundRect">
            <a:avLst>
              <a:gd name="adj" fmla="val 2264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206980" y="179536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206980" y="17953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524815" y="2304669"/>
            <a:ext cx="4301109" cy="447796"/>
          </a:xfrm>
          <a:prstGeom prst="roundRect">
            <a:avLst>
              <a:gd name="adj" fmla="val 816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373939" y="21537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373939" y="21537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578560" y="2365248"/>
            <a:ext cx="166592" cy="166592"/>
          </a:xfrm>
          <a:prstGeom prst="roundRect">
            <a:avLst>
              <a:gd name="adj" fmla="val 2195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427684" y="221437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427684" y="22143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Gom mọi việc chờ bạn: được giao, được nhắc tên, sắp hạn, phê duyệt, lời mời…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Lọc theo loại việc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Mỗi dòng là một việc - bấm để mở và xử lý ngay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Tạm hoãn nếu chưa làm được, việc sẽ quay lại đúng giờ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Số trên menu Trung tâm xử lý cho biết còn bao nhiêu việc chưa xử lý.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3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Dự án và task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Giao việc, theo dõi tiến độ, xem theo nhiều cách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Bảng task của dự án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8-project-grid" descr="Bảng task của dự á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856738" y="1772079"/>
            <a:ext cx="543633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705862" y="162120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705862" y="1621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691854" y="1974009"/>
            <a:ext cx="32095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40978" y="18231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40978" y="1823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872698" y="2766584"/>
            <a:ext cx="420819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7721822" y="261570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7721822" y="26157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5631275" y="3930206"/>
            <a:ext cx="6073045" cy="217075"/>
          </a:xfrm>
          <a:prstGeom prst="roundRect">
            <a:avLst>
              <a:gd name="adj" fmla="val 16849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5480399" y="377933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5480399" y="37793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Callout box 5"/>
          <p:cNvSpPr/>
          <p:nvPr/>
        </p:nvSpPr>
        <p:spPr>
          <a:xfrm>
            <a:off x="11093876" y="5237702"/>
            <a:ext cx="544817" cy="272606"/>
          </a:xfrm>
          <a:prstGeom prst="roundRect">
            <a:avLst>
              <a:gd name="adj" fmla="val 13417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8" name="Callout number 5"/>
          <p:cNvSpPr/>
          <p:nvPr/>
        </p:nvSpPr>
        <p:spPr>
          <a:xfrm>
            <a:off x="10943000" y="508682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llout label 5"/>
          <p:cNvSpPr txBox="1"/>
          <p:nvPr/>
        </p:nvSpPr>
        <p:spPr>
          <a:xfrm>
            <a:off x="10943000" y="50868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Làm việc như bảng tính: mỗi dòng một task, sửa trực tiếp trong ô.</a:t>
            </a:r>
            <a:endParaRPr lang="en-US" sz="1400" dirty="0"/>
          </a:p>
        </p:txBody>
      </p:sp>
      <p:sp>
        <p:nvSpPr>
          <p:cNvPr id="21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tep text 1"/>
          <p:cNvSpPr txBox="1"/>
          <p:nvPr/>
        </p:nvSpPr>
        <p:spPr>
          <a:xfrm>
            <a:off x="93268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Chuyển view hoặc Thêm view (Kanban, Lịch, Gantt…)</a:t>
            </a:r>
            <a:endParaRPr lang="en-US" sz="1300" dirty="0"/>
          </a:p>
        </p:txBody>
      </p:sp>
      <p:sp>
        <p:nvSpPr>
          <p:cNvPr id="24" name="Step number 2"/>
          <p:cNvSpPr/>
          <p:nvPr/>
        </p:nvSpPr>
        <p:spPr>
          <a:xfrm>
            <a:off x="502920" y="2542032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Step text 2"/>
          <p:cNvSpPr txBox="1"/>
          <p:nvPr/>
        </p:nvSpPr>
        <p:spPr>
          <a:xfrm>
            <a:off x="932688" y="25237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Lọc, sắp xếp, nhóm, ẩn/hiện trường</a:t>
            </a:r>
            <a:endParaRPr lang="en-US" sz="1300" dirty="0"/>
          </a:p>
        </p:txBody>
      </p:sp>
      <p:sp>
        <p:nvSpPr>
          <p:cNvPr id="27" name="Step number 3"/>
          <p:cNvSpPr/>
          <p:nvPr/>
        </p:nvSpPr>
        <p:spPr>
          <a:xfrm>
            <a:off x="502920" y="305409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tep text 3"/>
          <p:cNvSpPr txBox="1"/>
          <p:nvPr/>
        </p:nvSpPr>
        <p:spPr>
          <a:xfrm>
            <a:off x="932688" y="3035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vào ô để sửa trạng thái, người làm, hạn…</a:t>
            </a:r>
            <a:endParaRPr lang="en-US" sz="1300" dirty="0"/>
          </a:p>
        </p:txBody>
      </p:sp>
      <p:sp>
        <p:nvSpPr>
          <p:cNvPr id="30" name="Step number 4"/>
          <p:cNvSpPr/>
          <p:nvPr/>
        </p:nvSpPr>
        <p:spPr>
          <a:xfrm>
            <a:off x="502920" y="3566160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tep text 4"/>
          <p:cNvSpPr txBox="1"/>
          <p:nvPr/>
        </p:nvSpPr>
        <p:spPr>
          <a:xfrm>
            <a:off x="932688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Thêm task mới ở cuối bảng</a:t>
            </a:r>
            <a:endParaRPr lang="en-US" sz="1300" dirty="0"/>
          </a:p>
        </p:txBody>
      </p:sp>
      <p:sp>
        <p:nvSpPr>
          <p:cNvPr id="33" name="Step number 5"/>
          <p:cNvSpPr/>
          <p:nvPr/>
        </p:nvSpPr>
        <p:spPr>
          <a:xfrm>
            <a:off x="502920" y="4078224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4078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Step text 5"/>
          <p:cNvSpPr txBox="1"/>
          <p:nvPr/>
        </p:nvSpPr>
        <p:spPr>
          <a:xfrm>
            <a:off x="932688" y="4059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Hỏi AI về dự án hoặc nhờ AI tạo task</a:t>
            </a:r>
            <a:endParaRPr lang="en-US" sz="1300" dirty="0"/>
          </a:p>
        </p:txBody>
      </p:sp>
      <p:sp>
        <p:nvSpPr>
          <p:cNvPr id="36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7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8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Dán dữ liệu từ Excel vào bảng để nhập nhiều task một lần.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Chi tiết task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09-task-drawer" descr="Chi tiết tas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165050" y="1461611"/>
            <a:ext cx="478085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014174" y="131073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014174" y="13107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9633039" y="1461611"/>
            <a:ext cx="538743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482163" y="131073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482163" y="13107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10161685" y="1461611"/>
            <a:ext cx="646334" cy="201930"/>
          </a:xfrm>
          <a:prstGeom prst="roundRect">
            <a:avLst>
              <a:gd name="adj" fmla="val 1811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10010809" y="131073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10010809" y="13107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1154061" y="1269778"/>
            <a:ext cx="166592" cy="166592"/>
          </a:xfrm>
          <a:prstGeom prst="roundRect">
            <a:avLst>
              <a:gd name="adj" fmla="val 2195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1003185" y="11247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1003185" y="1124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Rê chuột lên dòng và bấm biểu tượng mở rộng để xem toàn bộ thông tin task.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Thuộc tính: tên, mô tả, trạng thái, người làm, hạn, tiến độ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Bình luận, trả lời và @nhắc tên đồng nghiệp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Đính kèm file (Word, Excel, PDF, ảnh…)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Mở thành trang đầy đủ để viết nội dung dài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Ở trang task có nút Bắt đầu tập trung để bấm giờ làm việc thực tế.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Kanban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0-kanban" descr="View Kan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342632" y="2433399"/>
            <a:ext cx="391713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191756" y="228252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191756" y="22825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307294" y="3171469"/>
            <a:ext cx="1282256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7156418" y="302059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7156418" y="30205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Theo dõi luồng công việc theo cột trạng thái.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Mỗi cột là một trạng thái, có số task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Kéo thẻ sang cột khác để đổi trạng thái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Có thể nhóm Kanban theo category hoặc người phụ trách.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View Gantt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1-gantt" descr="View Gan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8332089" y="2820300"/>
            <a:ext cx="647832" cy="109563"/>
          </a:xfrm>
          <a:prstGeom prst="roundRect">
            <a:avLst>
              <a:gd name="adj" fmla="val 333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181213" y="266942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181213" y="266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Xem tiến trình theo thời gian, phát hiện việc chồng chéo.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Kéo thanh để dời ngày, kéo mép để đổi thời lượng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Phù hợp cho kế hoạch tuyển dụng, onboarding nhiều bước.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4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Mục tiêu và tri thức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Đặt OKR đo được và lưu quy trình ở một nơi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Tất cả OKR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3-okr-list" descr="Tất cả OK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8496867" y="1542383"/>
            <a:ext cx="67646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8345991" y="1391507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8345991" y="139150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1041185" y="1552480"/>
            <a:ext cx="597508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10890309" y="1401604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10890309" y="14016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Danh sách mục tiêu của workspace, tiến độ tự tính từ key result và task.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Lọc theo chu kỳ (Quý, Năm) hoặc Khoảng ngày…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Tạo mục tiêu mới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OKR của tôi chỉ hiện mục tiêu bạn sở hữu, đóng góp hoặc có task liên quan.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Tạo mục tiêu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4-okr-dialog" descr="Tạo mục tiê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868097" y="1931099"/>
            <a:ext cx="238277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717221" y="178022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717221" y="17802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6868097" y="5000435"/>
            <a:ext cx="787527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717221" y="484955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717221" y="484955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8993646" y="4949952"/>
            <a:ext cx="277417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8842770" y="479907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8842770" y="4799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Mục tiêu tốt có tên rõ ràng, chu kỳ và key result đo được.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tên mục tiêu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Chọn chu kỳ: Quý, Năm (tự điền ngày) hoặc Tuỳ chọn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Lưu, sau đó thêm key result và liên kết task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Ví dụ KR: "100% nhân viên mới hoàn thành onboarding trong 7 ngày".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Wiki - kho quy trình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6-wiki" descr="Wiki - kho quy trì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206329" y="3071766"/>
            <a:ext cx="4230434" cy="203508"/>
          </a:xfrm>
          <a:prstGeom prst="roundRect">
            <a:avLst>
              <a:gd name="adj" fmla="val 1797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055453" y="292089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055453" y="29208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671661" y="1764506"/>
            <a:ext cx="1236821" cy="204770"/>
          </a:xfrm>
          <a:prstGeom prst="roundRect">
            <a:avLst>
              <a:gd name="adj" fmla="val 1786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520785" y="161363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520785" y="16136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5671661" y="1969276"/>
            <a:ext cx="1236821" cy="177399"/>
          </a:xfrm>
          <a:prstGeom prst="roundRect">
            <a:avLst>
              <a:gd name="adj" fmla="val 2061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520785" y="181840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520785" y="1818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Lưu quy trình, chính sách, hướng dẫn; phân quyền theo wiki.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Soạn nội dung trang (tiêu đề, danh sách, bảng, ảnh)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Hỏi AI về nội dung wiki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Chia sẻ và phân quyền (cuộn xuống cuối trang để bình luận)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Gõ [[ để liên kết tới trang, task, mục tiêu hoặc người khác.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Second Brain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7-brain" descr="Second 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873591" y="1900809"/>
            <a:ext cx="806379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722715" y="174993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722715" y="17499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73591" y="3049286"/>
            <a:ext cx="5603558" cy="504825"/>
          </a:xfrm>
          <a:prstGeom prst="roundRect">
            <a:avLst>
              <a:gd name="adj" fmla="val 7245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22715" y="289841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22715" y="28984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Nối tri thức với công việc: nhật ký, quyết định, ôn tập, đồ thị liên kết.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Các tab: Hôm nay cho bạn, Hỏi Second Brain, Nhật ký, Quyết định…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Việc và trang cần chú ý hôm nay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Ghi mỗi thay đổi chính sách thành một Quyết định kèm lý do để tra cứu sau này.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5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Trợ lý AI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Hỏi đáp, viết báo cáo, đọc file và tạo task bằng lời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Hỏi AI kèm ảnh hoặc file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8-ai-attach" descr="Hỏi AI kèm ảnh hoặc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7433501" y="5170655"/>
            <a:ext cx="1918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7282625" y="501977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7282625" y="50197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367873" y="4822326"/>
            <a:ext cx="3907346" cy="161544"/>
          </a:xfrm>
          <a:prstGeom prst="roundRect">
            <a:avLst>
              <a:gd name="adj" fmla="val 2264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7216997" y="467145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7216997" y="46714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635430" y="5029304"/>
            <a:ext cx="3372231" cy="333185"/>
          </a:xfrm>
          <a:prstGeom prst="roundRect">
            <a:avLst>
              <a:gd name="adj" fmla="val 10978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7484555" y="487842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7484555" y="4878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Callout box 4"/>
          <p:cNvSpPr/>
          <p:nvPr/>
        </p:nvSpPr>
        <p:spPr>
          <a:xfrm>
            <a:off x="11017758" y="5170655"/>
            <a:ext cx="1918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5" name="Callout number 4"/>
          <p:cNvSpPr/>
          <p:nvPr/>
        </p:nvSpPr>
        <p:spPr>
          <a:xfrm>
            <a:off x="10866882" y="501977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Callout label 4"/>
          <p:cNvSpPr txBox="1"/>
          <p:nvPr/>
        </p:nvSpPr>
        <p:spPr>
          <a:xfrm>
            <a:off x="10866882" y="50197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Workspace Intelligence trả lời từ dữ liệu bạn được xem - và từ file bạn gửi kèm.</a:t>
            </a:r>
            <a:endParaRPr lang="en-US" sz="1400" dirty="0"/>
          </a:p>
        </p:txBody>
      </p:sp>
      <p:sp>
        <p:nvSpPr>
          <p:cNvPr id="18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tep text 1"/>
          <p:cNvSpPr txBox="1"/>
          <p:nvPr/>
        </p:nvSpPr>
        <p:spPr>
          <a:xfrm>
            <a:off x="932688" y="201168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📎 để đính kèm (hoặc dán ảnh bằng Ctrl+V, kéo thả file)</a:t>
            </a:r>
            <a:endParaRPr lang="en-US" sz="1300" dirty="0"/>
          </a:p>
        </p:txBody>
      </p:sp>
      <p:sp>
        <p:nvSpPr>
          <p:cNvPr id="21" name="Step number 2"/>
          <p:cNvSpPr/>
          <p:nvPr/>
        </p:nvSpPr>
        <p:spPr>
          <a:xfrm>
            <a:off x="502920" y="26700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tep text 2"/>
          <p:cNvSpPr txBox="1"/>
          <p:nvPr/>
        </p:nvSpPr>
        <p:spPr>
          <a:xfrm>
            <a:off x="932688" y="265176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File đã chọn hiện ở đây - bấm × để bỏ</a:t>
            </a:r>
            <a:endParaRPr lang="en-US" sz="1300" dirty="0"/>
          </a:p>
        </p:txBody>
      </p:sp>
      <p:sp>
        <p:nvSpPr>
          <p:cNvPr id="24" name="Step number 3"/>
          <p:cNvSpPr/>
          <p:nvPr/>
        </p:nvSpPr>
        <p:spPr>
          <a:xfrm>
            <a:off x="502920" y="331012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Step text 3"/>
          <p:cNvSpPr txBox="1"/>
          <p:nvPr/>
        </p:nvSpPr>
        <p:spPr>
          <a:xfrm>
            <a:off x="932688" y="329184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Gõ câu hỏi</a:t>
            </a:r>
            <a:endParaRPr lang="en-US" sz="1300" dirty="0"/>
          </a:p>
        </p:txBody>
      </p:sp>
      <p:sp>
        <p:nvSpPr>
          <p:cNvPr id="27" name="Step number 4"/>
          <p:cNvSpPr/>
          <p:nvPr/>
        </p:nvSpPr>
        <p:spPr>
          <a:xfrm>
            <a:off x="502920" y="39502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tep text 4"/>
          <p:cNvSpPr txBox="1"/>
          <p:nvPr/>
        </p:nvSpPr>
        <p:spPr>
          <a:xfrm>
            <a:off x="932688" y="3931920"/>
            <a:ext cx="3200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Gửi</a:t>
            </a:r>
            <a:endParaRPr lang="en-US" sz="1300" dirty="0"/>
          </a:p>
        </p:txBody>
      </p:sp>
      <p:sp>
        <p:nvSpPr>
          <p:cNvPr id="30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31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32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Tối đa 5 file, 4 MB/tin nhắn: ảnh, PDF, Word, Excel, PowerPoint, TXT, CSV.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Đọc câu trả lời của AI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19-ai-answer" descr="Đọc câu trả lời của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10384597" y="1865471"/>
            <a:ext cx="890622" cy="151448"/>
          </a:xfrm>
          <a:prstGeom prst="roundRect">
            <a:avLst>
              <a:gd name="adj" fmla="val 241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10233721" y="171459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10233721" y="17145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367873" y="2269331"/>
            <a:ext cx="3907346" cy="797939"/>
          </a:xfrm>
          <a:prstGeom prst="roundRect">
            <a:avLst>
              <a:gd name="adj" fmla="val 45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7216997" y="211845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7216997" y="2118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7950867" y="2957707"/>
            <a:ext cx="346752" cy="109563"/>
          </a:xfrm>
          <a:prstGeom prst="roundRect">
            <a:avLst>
              <a:gd name="adj" fmla="val 33384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7799991" y="280683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7799991" y="28068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AI đọc file và trả lời ngay trong cuộc trò chuyện.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File bạn đã gửi kèm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Câu trả lời dựa trên nội dung file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Xuất PDF hoặc Chuyển thành trang wiki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Luôn kiểm tra lại số liệu quan trọng - AI có thể nhầm.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Tạo task bằng lời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0-ai-intake" descr="Tạo task bằng lờ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10038397" y="3434688"/>
            <a:ext cx="1534668" cy="1580260"/>
          </a:xfrm>
          <a:prstGeom prst="roundRect">
            <a:avLst>
              <a:gd name="adj" fmla="val 2383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887522" y="328381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887522" y="32838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10114121" y="4757487"/>
            <a:ext cx="732391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9963245" y="460661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9963245" y="46066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9907143" y="5222558"/>
            <a:ext cx="191834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9756267" y="507168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9756267" y="507168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Trong dự án, bấm Hỏi AI và mô tả việc (nội dung, hạn, người làm); AI hỏi lại phần thiếu.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Kiểm tra bản nháp task AI soạn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Bấm Xác nhận tạo task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Có thể đính kèm file (VD: JD) để AI đọc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Nhờ AI sửa hàng loạt (VD: phân loại task); AI chỉ đề xuất, bạn bấm Áp dụng mới lưu.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icon circle"/>
          <p:cNvSpPr/>
          <p:nvPr/>
        </p:nvSpPr>
        <p:spPr>
          <a:xfrm>
            <a:off x="548640" y="1920240"/>
            <a:ext cx="1005840" cy="100584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" name="Sec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DD5"/>
                </a:solidFill>
              </a:rPr>
              <a:t>Phần 6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Đội nhóm và quản trị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Ghi nhận đồng nghiệp, mời thành viên, giao việc cho agent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Vinh danh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1-recognition" descr="Vinh da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10836415" y="1732718"/>
            <a:ext cx="640733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10685539" y="158184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10685539" y="15818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5873591" y="2579325"/>
            <a:ext cx="743670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5722715" y="2428449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5722715" y="242844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Callout box 3"/>
          <p:cNvSpPr/>
          <p:nvPr/>
        </p:nvSpPr>
        <p:spPr>
          <a:xfrm>
            <a:off x="5873591" y="1793297"/>
            <a:ext cx="2327480" cy="131255"/>
          </a:xfrm>
          <a:prstGeom prst="roundRect">
            <a:avLst>
              <a:gd name="adj" fmla="val 278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12" name="Callout number 3"/>
          <p:cNvSpPr/>
          <p:nvPr/>
        </p:nvSpPr>
        <p:spPr>
          <a:xfrm>
            <a:off x="5722715" y="16424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llout label 3"/>
          <p:cNvSpPr txBox="1"/>
          <p:nvPr/>
        </p:nvSpPr>
        <p:spPr>
          <a:xfrm>
            <a:off x="5722715" y="164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Gửi lời khen, xem bảng vinh danh và đổi điểm lấy quà.</a:t>
            </a:r>
            <a:endParaRPr lang="en-US" sz="1400" dirty="0"/>
          </a:p>
        </p:txBody>
      </p:sp>
      <p:sp>
        <p:nvSpPr>
          <p:cNvPr id="15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tep text 1"/>
          <p:cNvSpPr txBox="1"/>
          <p:nvPr/>
        </p:nvSpPr>
        <p:spPr>
          <a:xfrm>
            <a:off x="932688" y="201168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Gửi lời khen (AI có thể gợi ý nội dung)</a:t>
            </a:r>
            <a:endParaRPr lang="en-US" sz="1300" dirty="0"/>
          </a:p>
        </p:txBody>
      </p:sp>
      <p:sp>
        <p:nvSpPr>
          <p:cNvPr id="18" name="Step number 2"/>
          <p:cNvSpPr/>
          <p:nvPr/>
        </p:nvSpPr>
        <p:spPr>
          <a:xfrm>
            <a:off x="502920" y="288340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883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Step text 2"/>
          <p:cNvSpPr txBox="1"/>
          <p:nvPr/>
        </p:nvSpPr>
        <p:spPr>
          <a:xfrm>
            <a:off x="932688" y="286512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Bảng vinh danh theo tuần, tháng, quý</a:t>
            </a:r>
            <a:endParaRPr lang="en-US" sz="1300" dirty="0"/>
          </a:p>
        </p:txBody>
      </p:sp>
      <p:sp>
        <p:nvSpPr>
          <p:cNvPr id="21" name="Step number 3"/>
          <p:cNvSpPr/>
          <p:nvPr/>
        </p:nvSpPr>
        <p:spPr>
          <a:xfrm>
            <a:off x="502920" y="373684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3736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Step text 3"/>
          <p:cNvSpPr txBox="1"/>
          <p:nvPr/>
        </p:nvSpPr>
        <p:spPr>
          <a:xfrm>
            <a:off x="932688" y="3718560"/>
            <a:ext cx="320040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Đổi quà bằng điểm tích luỹ</a:t>
            </a:r>
            <a:endParaRPr lang="en-US" sz="1300" dirty="0"/>
          </a:p>
        </p:txBody>
      </p:sp>
      <p:sp>
        <p:nvSpPr>
          <p:cNvPr id="24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5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6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Điểm được cộng tự động khi hoàn thành task đúng hạn, hỗ trợ đồng nghiệp…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Quản lý thành viên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2a-members" descr="Quản lý thành viê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9594152" y="2223897"/>
            <a:ext cx="676466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9443276" y="2073021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9443276" y="2073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7044785" y="1915954"/>
            <a:ext cx="596956" cy="171641"/>
          </a:xfrm>
          <a:prstGeom prst="roundRect">
            <a:avLst>
              <a:gd name="adj" fmla="val 21310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6893909" y="176507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6893909" y="1765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Cài đặt → Thành viên (quản trị viên trở lên).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Danh sách thành viên và vai trò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Mời thành viên mới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5 vai trò: Chủ sở hữu, Quản trị, Biên tập, Cộng tác, Chỉ xem.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Mời thành viên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2-members" descr="Mời thành viê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6913531" y="3027831"/>
            <a:ext cx="2312099" cy="161544"/>
          </a:xfrm>
          <a:prstGeom prst="roundRect">
            <a:avLst>
              <a:gd name="adj" fmla="val 22642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6762655" y="287695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6762655" y="28769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Callout box 2"/>
          <p:cNvSpPr/>
          <p:nvPr/>
        </p:nvSpPr>
        <p:spPr>
          <a:xfrm>
            <a:off x="8667719" y="4171259"/>
            <a:ext cx="603345" cy="191834"/>
          </a:xfrm>
          <a:prstGeom prst="roundRect">
            <a:avLst>
              <a:gd name="adj" fmla="val 19066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9" name="Callout number 2"/>
          <p:cNvSpPr/>
          <p:nvPr/>
        </p:nvSpPr>
        <p:spPr>
          <a:xfrm>
            <a:off x="8516843" y="402038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allout label 2"/>
          <p:cNvSpPr txBox="1"/>
          <p:nvPr/>
        </p:nvSpPr>
        <p:spPr>
          <a:xfrm>
            <a:off x="8516843" y="40203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Người được mời phải đồng ý mới vào workspace.</a:t>
            </a:r>
            <a:endParaRPr lang="en-US" sz="1400" dirty="0"/>
          </a:p>
        </p:txBody>
      </p:sp>
      <p:sp>
        <p:nvSpPr>
          <p:cNvPr id="12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Nhập một hoặc nhiều email</a:t>
            </a:r>
            <a:endParaRPr lang="en-US" sz="1300" dirty="0"/>
          </a:p>
        </p:txBody>
      </p:sp>
      <p:sp>
        <p:nvSpPr>
          <p:cNvPr id="15" name="Step number 2"/>
          <p:cNvSpPr/>
          <p:nvPr/>
        </p:nvSpPr>
        <p:spPr>
          <a:xfrm>
            <a:off x="502920" y="29443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tep text 2"/>
          <p:cNvSpPr txBox="1"/>
          <p:nvPr/>
        </p:nvSpPr>
        <p:spPr>
          <a:xfrm>
            <a:off x="932688" y="29260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Gửi lời mời</a:t>
            </a:r>
            <a:endParaRPr lang="en-US" sz="1300" dirty="0"/>
          </a:p>
        </p:txBody>
      </p:sp>
      <p:sp>
        <p:nvSpPr>
          <p:cNvPr id="18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9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20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Hoặc bật link mời chung để gửi qua chat nội bộ (không cấp quyền quản trị).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Agent Work</a:t>
            </a:r>
            <a:endParaRPr lang="en-US" sz="3000" dirty="0"/>
          </a:p>
        </p:txBody>
      </p:sp>
      <p:sp>
        <p:nvSpPr>
          <p:cNvPr id="3" name="Screenshot frame"/>
          <p:cNvSpPr/>
          <p:nvPr/>
        </p:nvSpPr>
        <p:spPr>
          <a:xfrm>
            <a:off x="4379976" y="1179576"/>
            <a:ext cx="7379208" cy="4451223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shot 23-agent-work" descr="Agent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234440"/>
            <a:ext cx="7269480" cy="4341495"/>
          </a:xfrm>
          <a:prstGeom prst="rect">
            <a:avLst/>
          </a:prstGeom>
        </p:spPr>
      </p:pic>
      <p:sp>
        <p:nvSpPr>
          <p:cNvPr id="5" name="Callout box 1"/>
          <p:cNvSpPr/>
          <p:nvPr/>
        </p:nvSpPr>
        <p:spPr>
          <a:xfrm>
            <a:off x="5732240" y="1895761"/>
            <a:ext cx="542135" cy="212027"/>
          </a:xfrm>
          <a:prstGeom prst="roundRect">
            <a:avLst>
              <a:gd name="adj" fmla="val 17251"/>
            </a:avLst>
          </a:prstGeom>
          <a:solidFill>
            <a:srgbClr val="EA580C">
              <a:alpha val="8000"/>
            </a:srgbClr>
          </a:solidFill>
          <a:ln w="28575">
            <a:solidFill>
              <a:srgbClr val="EA580C"/>
            </a:solidFill>
            <a:prstDash val="solid"/>
          </a:ln>
        </p:spPr>
      </p:sp>
      <p:sp>
        <p:nvSpPr>
          <p:cNvPr id="6" name="Callout number 1"/>
          <p:cNvSpPr/>
          <p:nvPr/>
        </p:nvSpPr>
        <p:spPr>
          <a:xfrm>
            <a:off x="5581364" y="1744885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Callout label 1"/>
          <p:cNvSpPr txBox="1"/>
          <p:nvPr/>
        </p:nvSpPr>
        <p:spPr>
          <a:xfrm>
            <a:off x="5581364" y="174488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Lead"/>
          <p:cNvSpPr txBox="1"/>
          <p:nvPr/>
        </p:nvSpPr>
        <p:spPr>
          <a:xfrm>
            <a:off x="502920" y="11887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</a:rPr>
              <a:t>Giao việc nhiều bước cho AI theo skill; việc nhạy cảm luôn cần phê duyệt.</a:t>
            </a:r>
            <a:endParaRPr lang="en-US" sz="1400" dirty="0"/>
          </a:p>
        </p:txBody>
      </p:sp>
      <p:sp>
        <p:nvSpPr>
          <p:cNvPr id="9" name="Step number 1"/>
          <p:cNvSpPr/>
          <p:nvPr/>
        </p:nvSpPr>
        <p:spPr>
          <a:xfrm>
            <a:off x="502920" y="2029968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tep text 1"/>
          <p:cNvSpPr txBox="1"/>
          <p:nvPr/>
        </p:nvSpPr>
        <p:spPr>
          <a:xfrm>
            <a:off x="932688" y="2011680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</a:rPr>
              <a:t>Tổng quan, Đề xuất, Công việc Agent, Skills, Thư viện output</a:t>
            </a:r>
            <a:endParaRPr lang="en-US" sz="1300" dirty="0"/>
          </a:p>
        </p:txBody>
      </p:sp>
      <p:sp>
        <p:nvSpPr>
          <p:cNvPr id="12" name="Tip box"/>
          <p:cNvSpPr/>
          <p:nvPr/>
        </p:nvSpPr>
        <p:spPr>
          <a:xfrm>
            <a:off x="502920" y="4709160"/>
            <a:ext cx="3630168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3" name="T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46320"/>
            <a:ext cx="274320" cy="274320"/>
          </a:xfrm>
          <a:prstGeom prst="rect">
            <a:avLst/>
          </a:prstGeom>
        </p:spPr>
      </p:pic>
      <p:sp>
        <p:nvSpPr>
          <p:cNvPr id="14" name="Tip text"/>
          <p:cNvSpPr txBox="1"/>
          <p:nvPr/>
        </p:nvSpPr>
        <p:spPr>
          <a:xfrm>
            <a:off x="1005840" y="48188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Mẹo  </a:t>
            </a:r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</a:rPr>
              <a:t>Lương, pháp lý, xoá dữ liệu, đổi quyền luôn dừng ở bước chờ phê duyệt.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02920" y="34747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917"/>
                </a:solidFill>
              </a:rPr>
              <a:t>Mẹo dùng woli hiệu quả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545336"/>
            <a:ext cx="338328" cy="3383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25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Bắt đầu ngày ở Trang chủ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647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Xem việc quá hạn, việc hôm nay rồi bấm Bắt đầu tập trung cho việc đầu tiên.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72200" y="13716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545336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086600" y="1325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Dọn Trung tâm xử lý mỗi ngày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086600" y="17647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Xử lý hoặc tạm hoãn từng việc để không bỏ sót phê duyệt, nhắc tên.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02920" y="29718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145536"/>
            <a:ext cx="338328" cy="33832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Trao đổi ngay trên task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33649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Bình luận và @nhắc tên thay vì nhắn riêng, để lịch sử nằm cùng công việc.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172200" y="29718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3145536"/>
            <a:ext cx="338328" cy="33832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8660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Tìm bằng Ctrl K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7086600" y="33649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Gõ tên task, dự án, người hoặc trang wiki để mở ngay.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02920" y="45720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745736"/>
            <a:ext cx="338328" cy="33832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17320" y="4526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Giao việc lặt vặt cho AI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417320" y="49651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Viết báo cáo tuần, tóm tắt file, tạo task từ JD - rồi kiểm tra lại.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6172200" y="4572000"/>
            <a:ext cx="685800" cy="68580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5936" y="4745736"/>
            <a:ext cx="338328" cy="33832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086600" y="4526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</a:rPr>
              <a:t>Bảo vệ dữ liệu nhân sự</a:t>
            </a:r>
            <a:endParaRPr lang="en-US" sz="1700" dirty="0"/>
          </a:p>
        </p:txBody>
      </p:sp>
      <p:sp>
        <p:nvSpPr>
          <p:cNvPr id="26" name="Text 18"/>
          <p:cNvSpPr txBox="1"/>
          <p:nvPr/>
        </p:nvSpPr>
        <p:spPr>
          <a:xfrm>
            <a:off x="7086600" y="4965192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</a:rPr>
              <a:t>Ẩn dự án nhạy cảm với người không liên quan; AI chỉ dùng dữ liệu bạn được xem.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3679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753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oli logo" descr="/home/user/hr-task-managent-CL/public/brand/woli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0952" y="1828800"/>
            <a:ext cx="1527048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2926080"/>
            <a:ext cx="9445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Sẵn sàng làm việc cùng woli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1828800" y="3840480"/>
            <a:ext cx="8531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EDD5"/>
                </a:solidFill>
              </a:rPr>
              <a:t>Cần hỗ trợ? Liên hệ quản trị workspace của bạn hoặc xem tài liệu Hướng dẫn sử dụng chi tiết (Word).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li">
  <a:themeElements>
    <a:clrScheme name="woli">
      <a:dk1>
        <a:srgbClr val="1C1917"/>
      </a:dk1>
      <a:lt1>
        <a:srgbClr val="FFFFFF"/>
      </a:lt1>
      <a:dk2>
        <a:srgbClr val="57534E"/>
      </a:dk2>
      <a:lt2>
        <a:srgbClr val="FFF7ED"/>
      </a:lt2>
      <a:accent1>
        <a:srgbClr val="EA580C"/>
      </a:accent1>
      <a:accent2>
        <a:srgbClr val="C2410C"/>
      </a:accent2>
      <a:accent3>
        <a:srgbClr val="FFEDD5"/>
      </a:accent3>
      <a:accent4>
        <a:srgbClr val="0EA5E9"/>
      </a:accent4>
      <a:accent5>
        <a:srgbClr val="22C55E"/>
      </a:accent5>
      <a:accent6>
        <a:srgbClr val="A855F7"/>
      </a:accent6>
      <a:hlink>
        <a:srgbClr val="EA580C"/>
      </a:hlink>
      <a:folHlink>
        <a:srgbClr val="C2410C"/>
      </a:folHlink>
    </a:clrScheme>
    <a:fontScheme name="wol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woli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Hướng dẫn sử dụng woli</dc:title>
  <dc:subject>PptxGenJS Presentation</dc:subject>
  <dc:creator>woli</dc:creator>
  <cp:lastModifiedBy>woli</cp:lastModifiedBy>
  <cp:revision>1</cp:revision>
  <dcterms:created xsi:type="dcterms:W3CDTF">2026-10-15T12:16:33Z</dcterms:created>
  <dcterms:modified xsi:type="dcterms:W3CDTF">2026-10-15T12:16:33Z</dcterms:modified>
</cp:coreProperties>
</file>