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306bae60-cfdf-e64a-9e31-34555b34f652}">
          <p14:sldIdLst>
            <p14:sldId id="256"/>
            <p14:sldId id="257"/>
          </p14:sldIdLst>
        </p14:section>
        <p14:section name="Bắt đầu" id="{02b4a169-1e6f-aaf0-ecf2-851812059e91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Làm việc hằng ngày" id="{b526ffef-61ec-886a-7b3c-9029e717d7a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Dự án, task &amp; view" id="{94565bf0-51a7-f7d0-e60d-a6cb1da38d19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Bảng điều khiển &amp; báo cáo" id="{52faa792-1dc2-2daf-1ef5-42d2ca64d707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Mục tiêu &amp; tri thức" id="{495df869-d6cc-84f2-05bb-09a5cb44861d}">
          <p14:sldIdLst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  <p14:section name="Trợ lý AI" id="{e9dbc611-d1c9-2fa2-cd03-0dd1c4bb109b}">
          <p14:sldIdLst>
            <p14:sldId id="309"/>
            <p14:sldId id="310"/>
            <p14:sldId id="311"/>
            <p14:sldId id="312"/>
          </p14:sldIdLst>
        </p14:section>
        <p14:section name="Đội nhóm" id="{66de248d-b536-1ed2-1d40-b26bd85e23cd}">
          <p14:sldIdLst>
            <p14:sldId id="313"/>
            <p14:sldId id="314"/>
            <p14:sldId id="315"/>
            <p14:sldId id="316"/>
            <p14:sldId id="317"/>
          </p14:sldIdLst>
        </p14:section>
        <p14:section name="Cài đặt &amp; trợ giúp" id="{9cff169f-8ef4-b41c-2e6d-9afdee450a96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</p14:sldIdLst>
        </p14:section>
        <p14:section name="Kết thúc" id="{ed74db2e-a122-3438-b7c5-ec8c7d258d19}">
          <p14:sldIdLst>
            <p14:sldId id="331"/>
            <p14:sldId id="33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Bộ slide hướng dẫn người dùng mới làm quen woli, đi từ đăng nhập đến các tính năng AI. Ảnh chụp dùng tài khoản và dữ liệu minh hoạ.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li Cover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li Section">
    <p:bg>
      <p:bgPr>
        <a:solidFill>
          <a:srgbClr val="EA5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r-task-managent-CL/public/brand/woli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989320"/>
            <a:ext cx="850392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li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r-task-managent-CL/public/brand/woli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36792"/>
            <a:ext cx="475488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63093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</a:rPr>
              <a:t>Hướng dẫn sử dụng woli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C1917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image" Target="../media/image-76-3.png"/><Relationship Id="rId4" Type="http://schemas.openxmlformats.org/officeDocument/2006/relationships/image" Target="../media/image-76-4.png"/><Relationship Id="rId5" Type="http://schemas.openxmlformats.org/officeDocument/2006/relationships/image" Target="../media/image-76-5.png"/><Relationship Id="rId6" Type="http://schemas.openxmlformats.org/officeDocument/2006/relationships/image" Target="../media/image-7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oli logo" descr="/home/user/hr-task-managent-CL/public/brand/woli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1527048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377440" y="822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woli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33172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Hướng dẫn sử dụng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2004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EDD5"/>
                </a:solidFill>
              </a:rPr>
              <a:t>Quản lý công việc, mục tiêu và tri thức cho đội ngũ HR - có AI hỗ trợ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29E"/>
                </a:solidFill>
              </a:rPr>
              <a:t>Phiên bản 3.2 · 16/10/2026  ·  Dữ liệu trong ảnh là dữ liệu minh hoạ</a:t>
            </a:r>
            <a:endParaRPr lang="en-US" sz="1200" dirty="0"/>
          </a:p>
        </p:txBody>
      </p:sp>
      <p:sp>
        <p:nvSpPr>
          <p:cNvPr id="7" name="Cover screenshot frame"/>
          <p:cNvSpPr/>
          <p:nvPr/>
        </p:nvSpPr>
        <p:spPr>
          <a:xfrm>
            <a:off x="7269480" y="1371600"/>
            <a:ext cx="4526280" cy="4160520"/>
          </a:xfrm>
          <a:prstGeom prst="roundRect">
            <a:avLst>
              <a:gd name="adj" fmla="val 2637"/>
            </a:avLst>
          </a:prstGeom>
          <a:solidFill>
            <a:srgbClr val="292524"/>
          </a:solidFill>
          <a:ln w="12700">
            <a:solidFill>
              <a:srgbClr val="44403C"/>
            </a:solidFill>
            <a:prstDash val="solid"/>
          </a:ln>
        </p:spPr>
      </p:sp>
      <p:pic>
        <p:nvPicPr>
          <p:cNvPr id="8" name="Cover screenshot" descr="/tmp/claude-0/-home-user-hr-task-managent-CL/2d11fed8-bdd1-5393-af8f-a94a741e9897/scratchpad/ppt/shots/06-ho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60920" y="1463040"/>
            <a:ext cx="4343400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Nội dung</a:t>
            </a:r>
            <a:endParaRPr lang="en-US" sz="3000" dirty="0"/>
          </a:p>
        </p:txBody>
      </p:sp>
      <p:sp>
        <p:nvSpPr>
          <p:cNvPr id="3" name="Agenda card 1"/>
          <p:cNvSpPr/>
          <p:nvPr/>
        </p:nvSpPr>
        <p:spPr>
          <a:xfrm>
            <a:off x="502920" y="137160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80136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Bắt đầu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880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Đăng ký, đăng nhập, quên mật khẩu, workspace</a:t>
            </a:r>
            <a:endParaRPr lang="en-US" sz="1050" dirty="0"/>
          </a:p>
        </p:txBody>
      </p:sp>
      <p:sp>
        <p:nvSpPr>
          <p:cNvPr id="9" name="Agenda card 2"/>
          <p:cNvSpPr/>
          <p:nvPr/>
        </p:nvSpPr>
        <p:spPr>
          <a:xfrm>
            <a:off x="3337560" y="137160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11880" y="1645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8013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1208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2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361188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Làm việc hằng ngày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611880" y="2880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Trang chủ, Việc của tôi, Trung tâm xử lý, tìm nhanh, thông báo, focus</a:t>
            </a:r>
            <a:endParaRPr lang="en-US" sz="1050" dirty="0"/>
          </a:p>
        </p:txBody>
      </p:sp>
      <p:sp>
        <p:nvSpPr>
          <p:cNvPr id="15" name="Agenda card 3"/>
          <p:cNvSpPr/>
          <p:nvPr/>
        </p:nvSpPr>
        <p:spPr>
          <a:xfrm>
            <a:off x="6172200" y="137160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46520" y="1645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1801368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0467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3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644652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Dự án, task và các view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2880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Bảng task và thanh công cụ, panel/trang task, Kanban, Lịch, Gallery, Biểu mẫu, Eisenhower, Gantt</a:t>
            </a:r>
            <a:endParaRPr lang="en-US" sz="1050" dirty="0"/>
          </a:p>
        </p:txBody>
      </p:sp>
      <p:sp>
        <p:nvSpPr>
          <p:cNvPr id="21" name="Agenda card 4"/>
          <p:cNvSpPr/>
          <p:nvPr/>
        </p:nvSpPr>
        <p:spPr>
          <a:xfrm>
            <a:off x="9006840" y="137160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281160" y="1645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180136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8813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4</a:t>
            </a:r>
            <a:endParaRPr lang="en-US" sz="2400" dirty="0"/>
          </a:p>
        </p:txBody>
      </p:sp>
      <p:sp>
        <p:nvSpPr>
          <p:cNvPr id="25" name="Text 19"/>
          <p:cNvSpPr txBox="1"/>
          <p:nvPr/>
        </p:nvSpPr>
        <p:spPr>
          <a:xfrm>
            <a:off x="928116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Bảng điều khiển &amp; báo cáo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281160" y="2880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Biểu đồ, AI Narrative, báo cáo PDF, thư viện, dashboard workspace</a:t>
            </a:r>
            <a:endParaRPr lang="en-US" sz="1050" dirty="0"/>
          </a:p>
        </p:txBody>
      </p:sp>
      <p:sp>
        <p:nvSpPr>
          <p:cNvPr id="27" name="Agenda card 5"/>
          <p:cNvSpPr/>
          <p:nvPr/>
        </p:nvSpPr>
        <p:spPr>
          <a:xfrm>
            <a:off x="502920" y="379476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4224528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2377440" y="4069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5</a:t>
            </a:r>
            <a:endParaRPr lang="en-US" sz="2400" dirty="0"/>
          </a:p>
        </p:txBody>
      </p:sp>
      <p:sp>
        <p:nvSpPr>
          <p:cNvPr id="31" name="Text 24"/>
          <p:cNvSpPr txBox="1"/>
          <p:nvPr/>
        </p:nvSpPr>
        <p:spPr>
          <a:xfrm>
            <a:off x="777240" y="4754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Mục tiêu &amp; tri thức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5303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OKR, Wiki và phân quyền, Second Brain</a:t>
            </a:r>
            <a:endParaRPr lang="en-US" sz="1050" dirty="0"/>
          </a:p>
        </p:txBody>
      </p:sp>
      <p:sp>
        <p:nvSpPr>
          <p:cNvPr id="33" name="Agenda card 6"/>
          <p:cNvSpPr/>
          <p:nvPr/>
        </p:nvSpPr>
        <p:spPr>
          <a:xfrm>
            <a:off x="3337560" y="379476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3611880" y="4069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328" y="4224528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212080" y="4069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6</a:t>
            </a:r>
            <a:endParaRPr lang="en-US" sz="2400" dirty="0"/>
          </a:p>
        </p:txBody>
      </p:sp>
      <p:sp>
        <p:nvSpPr>
          <p:cNvPr id="37" name="Text 29"/>
          <p:cNvSpPr txBox="1"/>
          <p:nvPr/>
        </p:nvSpPr>
        <p:spPr>
          <a:xfrm>
            <a:off x="3611880" y="4754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Trợ lý AI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611880" y="5303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Hỏi AI kèm file, tạo task bằng lời</a:t>
            </a:r>
            <a:endParaRPr lang="en-US" sz="1050" dirty="0"/>
          </a:p>
        </p:txBody>
      </p:sp>
      <p:sp>
        <p:nvSpPr>
          <p:cNvPr id="39" name="Agenda card 7"/>
          <p:cNvSpPr/>
          <p:nvPr/>
        </p:nvSpPr>
        <p:spPr>
          <a:xfrm>
            <a:off x="6172200" y="379476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6446520" y="4069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1968" y="4224528"/>
            <a:ext cx="329184" cy="329184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8046720" y="4069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7</a:t>
            </a:r>
            <a:endParaRPr lang="en-US" sz="2400" dirty="0"/>
          </a:p>
        </p:txBody>
      </p:sp>
      <p:sp>
        <p:nvSpPr>
          <p:cNvPr id="43" name="Text 34"/>
          <p:cNvSpPr txBox="1"/>
          <p:nvPr/>
        </p:nvSpPr>
        <p:spPr>
          <a:xfrm>
            <a:off x="6446520" y="4754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Đội nhóm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446520" y="5303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Vinh danh, thành viên và lời mời, Agent Work</a:t>
            </a:r>
            <a:endParaRPr lang="en-US" sz="1050" dirty="0"/>
          </a:p>
        </p:txBody>
      </p:sp>
      <p:sp>
        <p:nvSpPr>
          <p:cNvPr id="45" name="Agenda card 8"/>
          <p:cNvSpPr/>
          <p:nvPr/>
        </p:nvSpPr>
        <p:spPr>
          <a:xfrm>
            <a:off x="9006840" y="379476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9281160" y="4069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6608" y="4224528"/>
            <a:ext cx="329184" cy="329184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10881360" y="4069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8</a:t>
            </a:r>
            <a:endParaRPr lang="en-US" sz="2400" dirty="0"/>
          </a:p>
        </p:txBody>
      </p:sp>
      <p:sp>
        <p:nvSpPr>
          <p:cNvPr id="49" name="Text 39"/>
          <p:cNvSpPr txBox="1"/>
          <p:nvPr/>
        </p:nvSpPr>
        <p:spPr>
          <a:xfrm>
            <a:off x="9281160" y="4754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Cài đặt &amp; trợ giúp</a:t>
            </a:r>
            <a:endParaRPr lang="en-US" sz="1500" dirty="0"/>
          </a:p>
        </p:txBody>
      </p:sp>
      <p:sp>
        <p:nvSpPr>
          <p:cNvPr id="50" name="Text 40"/>
          <p:cNvSpPr txBox="1"/>
          <p:nvPr/>
        </p:nvSpPr>
        <p:spPr>
          <a:xfrm>
            <a:off x="9281160" y="5303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Hồ sơ &amp; AI, giao diện, quyền hạn, phân quyền dự án, chuyển giao, Trung tâm trợ giúp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1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Bắt đầu với woli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Tạo tài khoản, đăng nhập và vào workspace của bạn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Mở trang chủ woli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1-landing" descr="Mở trang chủ wo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596991" y="1284923"/>
            <a:ext cx="527621" cy="222123"/>
          </a:xfrm>
          <a:prstGeom prst="roundRect">
            <a:avLst>
              <a:gd name="adj" fmla="val 1646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446115" y="113404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446115" y="113404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0134709" y="1289971"/>
            <a:ext cx="777036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983833" y="113909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983833" y="11390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Truy cập địa chỉ woli công ty cung cấp trên trình duyệt (máy tính, máy tính bảng hoặc điện thoại).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Đã có tài khoản: bấm Đăng nhập ở góc phải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Chưa có: bấm nút bắt đầu để tạo tài khoản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Có thể xem video giới thiệu ngay trên trang chủ trước khi đăng ký.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Đăng ký tài khoản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2-register" descr="Đăng ký tài khoả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881902" y="2097691"/>
            <a:ext cx="843058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731026" y="194681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731026" y="19468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028748" y="2905411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877872" y="275453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877872" y="27545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028748" y="4220480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877872" y="406960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877872" y="40696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Mỗi người dùng một tài khoản riêng, đăng ký bằng email công việc.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thẻ Đăng ký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họ tên, email công việc, mật khẩu (nhập lại để xác nhận)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Tạo tài khoản, sau đó mở email xác minh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Dùng đúng email được mời để vào ngay workspace của nhóm.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Đăng nhập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3-login" descr="Đăng nhậ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028748" y="2866208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877872" y="271533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877872" y="27153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028748" y="3431612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877872" y="328073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877872" y="3280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266910" y="3088331"/>
            <a:ext cx="478243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10116034" y="293745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10116034" y="2937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Đăng nhập bằng email/mật khẩu hoặc tài khoản Google, Microsoft (nếu quản trị đã bật).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email và mật khẩu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Đăng nhập (hoặc Tiếp tục với Google / Microsoft nếu được bật)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Quên mật khẩu? Bấm để nhận link đặt lại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Phiên đăng nhập tự hết hạn sau 12 giờ; đổi mật khẩu sẽ đăng xuất các thiết bị khác.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Quên mật khẩu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4-forgot" descr="Quên mật khẩ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028748" y="2987366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877872" y="283649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877872" y="28364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028748" y="3229682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877872" y="307880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877872" y="30788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Tự đặt lại mật khẩu qua email, không cần nhờ quản trị.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email tài khoản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Gửi link đặt lại, mở thư và đặt mật khẩu mới trong 1 giờ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Không thấy thư? Kiểm tra mục Spam. Link chỉ dùng được một lần.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Chọn hoặc tạo workspace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5-workspaces" descr="Chọn hoặc tạo worksp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939219" y="2223897"/>
            <a:ext cx="1023059" cy="151448"/>
          </a:xfrm>
          <a:prstGeom prst="roundRect">
            <a:avLst>
              <a:gd name="adj" fmla="val 241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788343" y="207302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788343" y="2073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851928" y="1825085"/>
            <a:ext cx="73672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701052" y="167420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701052" y="167420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Workspace là không gian làm việc của một nhóm/phòng ban, gồm dự án, thành viên, OKR, wiki.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vào thẻ workspace để vào làm việc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Hoặc tạo workspace mới - bạn trở thành Chủ sở hữu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Lời mời vào workspace hiện ở đầu trang này: bấm Đồng ý để tham gia.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2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Làm việc hằng ngày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Biết hôm nay cần làm gì, tìm nhanh và xử lý việc chờ bạn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Trang chủ - bảng điều khiển trong ngày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6-home" descr="Trang chủ - bảng điều khiển trong ngà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4434840" y="1234440"/>
            <a:ext cx="1241870" cy="4341495"/>
          </a:xfrm>
          <a:prstGeom prst="roundRect">
            <a:avLst>
              <a:gd name="adj" fmla="val 294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4325112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4325112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732240" y="1267254"/>
            <a:ext cx="2291906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581364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581364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237015" y="1287447"/>
            <a:ext cx="171641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10086139" y="113657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10086139" y="113657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10952446" y="1953421"/>
            <a:ext cx="645860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10801570" y="180254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10801570" y="18025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5752433" y="2155351"/>
            <a:ext cx="5845874" cy="444246"/>
          </a:xfrm>
          <a:prstGeom prst="roundRect">
            <a:avLst>
              <a:gd name="adj" fmla="val 82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5601557" y="200447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5601557" y="20044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Mọi thứ cần biết cho hôm nay trên một màn hình.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Thanh điều hướng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Tìm kiếm nhanh (Ctrl K)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Thông báo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Tuỳ chỉnh Home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Số liệu trong ngày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Bấm vào một con số (quá hạn, hôm nay…) để mở danh sách task tương ứng.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Tuỳ chỉnh trang chủ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7-home-customize" descr="Tuỳ chỉnh trang ch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770840" y="1234440"/>
            <a:ext cx="1933480" cy="4341495"/>
          </a:xfrm>
          <a:prstGeom prst="roundRect">
            <a:avLst>
              <a:gd name="adj" fmla="val 189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619964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619964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836468" y="2116385"/>
            <a:ext cx="1822418" cy="472958"/>
          </a:xfrm>
          <a:prstGeom prst="roundRect">
            <a:avLst>
              <a:gd name="adj" fmla="val 77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685592" y="196550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685592" y="196550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836468" y="5217509"/>
            <a:ext cx="152504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9685592" y="50666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9685592" y="50666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Kéo thả widget, chọn bố cục gợi ý, đổi cỡ S/M/L/XL; lưu thành template để chia sẻ.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Bố cục gợi ý &amp; widget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Kéo widget vào trang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Template có thể riêng tư, chia sẻ cho người chọn hoặc công khai trong workspace.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Việc của tôi &amp; ghi nhanh ý tưởng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2-my-work" descr="Việc của tôi &amp; ghi nhanh ý tưở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823109" y="2006822"/>
            <a:ext cx="543688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672233" y="185594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672233" y="185594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33205" y="2208752"/>
            <a:ext cx="838010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682329" y="205787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682329" y="2057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8538200" y="3715655"/>
            <a:ext cx="274341" cy="80772"/>
          </a:xfrm>
          <a:prstGeom prst="roundRect">
            <a:avLst>
              <a:gd name="adj" fmla="val 4528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387324" y="356477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387324" y="35647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6448303" y="1729169"/>
            <a:ext cx="630716" cy="257461"/>
          </a:xfrm>
          <a:prstGeom prst="roundRect">
            <a:avLst>
              <a:gd name="adj" fmla="val 1420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6297427" y="15782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6297427" y="15782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8456560" y="1729169"/>
            <a:ext cx="1007836" cy="257461"/>
          </a:xfrm>
          <a:prstGeom prst="roundRect">
            <a:avLst>
              <a:gd name="adj" fmla="val 1420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8305684" y="15782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8305684" y="15782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Mọi việc của bạn ở mọi dự án, cùng chỗ ghi nhanh ý tưởng chưa thành task.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Ghi nhanh ý tưởng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Dự án, category, thời lượng, ngày dự kiến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Quỹ đạo: hôm nay → chưa lên lịch (kéo chấm)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Task / OKR / Key result của tôi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Ma trận Eisenhower &amp; sắp đến hạn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Kéo chấm ý tưởng giữa các vòng Hôm nay → Tuần → Tháng → Quý → Sau này; bấm chấm để chuyển thành task.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Trung tâm xử lý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5-inbox" descr="Trung tâm xử l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524815" y="2304669"/>
            <a:ext cx="4301109" cy="447796"/>
          </a:xfrm>
          <a:prstGeom prst="roundRect">
            <a:avLst>
              <a:gd name="adj" fmla="val 816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373939" y="21537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373939" y="21537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0578560" y="2365248"/>
            <a:ext cx="166592" cy="166592"/>
          </a:xfrm>
          <a:prstGeom prst="roundRect">
            <a:avLst>
              <a:gd name="adj" fmla="val 2195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10427684" y="221437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10427684" y="22143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Gom mọi việc chờ bạn: được giao, được nhắc tên, sắp hạn, phê duyệt, lời mời, đổi quà…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Việc cần bạn phản hồi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Tạm hoãn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Tạm hoãn một mục để nó quay lại đúng lúc bạn chọn.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Tìm nhanh (Ctrl K)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0-command-palette" descr="Tìm nhanh (Ctrl K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779121" y="2005797"/>
            <a:ext cx="2693872" cy="252413"/>
          </a:xfrm>
          <a:prstGeom prst="roundRect">
            <a:avLst>
              <a:gd name="adj" fmla="val 1449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628245" y="185492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628245" y="18549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605588" y="2232968"/>
            <a:ext cx="2927985" cy="1595247"/>
          </a:xfrm>
          <a:prstGeom prst="roundRect">
            <a:avLst>
              <a:gd name="adj" fmla="val 229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454712" y="208209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454712" y="20820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Mở từ ô tìm kiếm trên cùng hoặc nhấn Ctrl K / Cmd K.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Gõ để tìm task, dự án, trang, người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Kết quả (Enter để mở)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Dùng phím ↑ ↓ để chọn, Enter để mở, Esc để đóng.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Thông báo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1-notifications" descr="Thông bá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8446516" y="1650079"/>
            <a:ext cx="1958721" cy="439198"/>
          </a:xfrm>
          <a:prstGeom prst="roundRect">
            <a:avLst>
              <a:gd name="adj" fmla="val 832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295640" y="149920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295640" y="14992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0238645" y="1516301"/>
            <a:ext cx="106013" cy="106013"/>
          </a:xfrm>
          <a:prstGeom prst="roundRect">
            <a:avLst>
              <a:gd name="adj" fmla="val 3450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10087769" y="136542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10087769" y="13654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Chuông góc trên: việc được giao, @nhắc tên, đổi hạn, phê duyệt, lời khen, gợi ý AI.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Thông báo (bấm để mở)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Đánh dấu đã đọc tất cả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Bật thông báo desktop và chỉnh âm thanh trong Cài đặt → Thông báo.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Chế độ tập trung (Focus)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2b-focus-panel" descr="Chế độ tập trung (Focu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448645" y="2363907"/>
            <a:ext cx="2453450" cy="333185"/>
          </a:xfrm>
          <a:prstGeom prst="roundRect">
            <a:avLst>
              <a:gd name="adj" fmla="val 1097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297769" y="221303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297769" y="22130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8705502" y="4739188"/>
            <a:ext cx="58875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554626" y="45883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554626" y="4588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176486" y="2623419"/>
            <a:ext cx="1115663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025610" y="247254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025610" y="24725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304350" y="4739188"/>
            <a:ext cx="617937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153474" y="45883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153474" y="4588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6216872" y="4739188"/>
            <a:ext cx="506718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6065996" y="45883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6065996" y="4588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Bấm Bắt đầu tập trung trên task; thời gian được cộng vào giờ thực tế khi dừng.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Đồng hồ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Tạm dừng / tiếp tục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Đổi sang task khác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Hoàn thành task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Dừng (cộng giờ thực tế)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Có thể giữ nhiều phiên: một phiên chạy, các phiên khác tạm dừng; thanh focus ở đáy màn hình.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3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Dự án, task và các view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Giao việc, theo dõi tiến độ và xem theo nhiều cách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Bảng task (view Tất cả task)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-project-grid" descr="Bảng task (view Tất cả task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4768025" y="4091276"/>
            <a:ext cx="375937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4617149" y="394040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4617149" y="394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335348" y="1772079"/>
            <a:ext cx="543633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184472" y="162120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184472" y="16212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923627" y="2718626"/>
            <a:ext cx="933926" cy="227171"/>
          </a:xfrm>
          <a:prstGeom prst="roundRect">
            <a:avLst>
              <a:gd name="adj" fmla="val 1610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772751" y="256775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772751" y="25677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5833205" y="2574750"/>
            <a:ext cx="111062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5682329" y="242387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5682329" y="24238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5631275" y="3526346"/>
            <a:ext cx="6073045" cy="217075"/>
          </a:xfrm>
          <a:prstGeom prst="roundRect">
            <a:avLst>
              <a:gd name="adj" fmla="val 16849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5480399" y="337547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5480399" y="337547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Callout box 6"/>
          <p:cNvSpPr/>
          <p:nvPr/>
        </p:nvSpPr>
        <p:spPr>
          <a:xfrm>
            <a:off x="11093876" y="5237702"/>
            <a:ext cx="544817" cy="272606"/>
          </a:xfrm>
          <a:prstGeom prst="roundRect">
            <a:avLst>
              <a:gd name="adj" fmla="val 1341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21" name="Callout number 6"/>
          <p:cNvSpPr/>
          <p:nvPr/>
        </p:nvSpPr>
        <p:spPr>
          <a:xfrm>
            <a:off x="10943000" y="508682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Callout label 6"/>
          <p:cNvSpPr txBox="1"/>
          <p:nvPr/>
        </p:nvSpPr>
        <p:spPr>
          <a:xfrm>
            <a:off x="10943000" y="50868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23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Làm việc như bảng tính: mỗi dòng một task, sửa trực tiếp trong ô, dán nhiều ô một lúc.</a:t>
            </a:r>
            <a:endParaRPr lang="en-US" sz="1400" dirty="0"/>
          </a:p>
        </p:txBody>
      </p:sp>
      <p:sp>
        <p:nvSpPr>
          <p:cNvPr id="24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Step text 1"/>
          <p:cNvSpPr txBox="1"/>
          <p:nvPr/>
        </p:nvSpPr>
        <p:spPr>
          <a:xfrm>
            <a:off x="932688" y="2011680"/>
            <a:ext cx="320040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view của dự án</a:t>
            </a:r>
            <a:endParaRPr lang="en-US" sz="1300" dirty="0"/>
          </a:p>
        </p:txBody>
      </p:sp>
      <p:sp>
        <p:nvSpPr>
          <p:cNvPr id="27" name="Step number 2"/>
          <p:cNvSpPr/>
          <p:nvPr/>
        </p:nvSpPr>
        <p:spPr>
          <a:xfrm>
            <a:off x="502920" y="245668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2456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Step text 2"/>
          <p:cNvSpPr txBox="1"/>
          <p:nvPr/>
        </p:nvSpPr>
        <p:spPr>
          <a:xfrm>
            <a:off x="932688" y="2438400"/>
            <a:ext cx="320040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Thêm view</a:t>
            </a:r>
            <a:endParaRPr lang="en-US" sz="1300" dirty="0"/>
          </a:p>
        </p:txBody>
      </p:sp>
      <p:sp>
        <p:nvSpPr>
          <p:cNvPr id="30" name="Step number 3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Step text 3"/>
          <p:cNvSpPr txBox="1"/>
          <p:nvPr/>
        </p:nvSpPr>
        <p:spPr>
          <a:xfrm>
            <a:off x="932688" y="2865120"/>
            <a:ext cx="320040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Sửa trực tiếp trong ô</a:t>
            </a:r>
            <a:endParaRPr lang="en-US" sz="1300" dirty="0"/>
          </a:p>
        </p:txBody>
      </p:sp>
      <p:sp>
        <p:nvSpPr>
          <p:cNvPr id="33" name="Step number 4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tep text 4"/>
          <p:cNvSpPr txBox="1"/>
          <p:nvPr/>
        </p:nvSpPr>
        <p:spPr>
          <a:xfrm>
            <a:off x="932688" y="3291840"/>
            <a:ext cx="320040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Mở task: panel bên cạnh / toàn trang</a:t>
            </a:r>
            <a:endParaRPr lang="en-US" sz="1300" dirty="0"/>
          </a:p>
        </p:txBody>
      </p:sp>
      <p:sp>
        <p:nvSpPr>
          <p:cNvPr id="36" name="Step number 5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tep text 5"/>
          <p:cNvSpPr txBox="1"/>
          <p:nvPr/>
        </p:nvSpPr>
        <p:spPr>
          <a:xfrm>
            <a:off x="932688" y="3718560"/>
            <a:ext cx="320040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Thêm task</a:t>
            </a:r>
            <a:endParaRPr lang="en-US" sz="1300" dirty="0"/>
          </a:p>
        </p:txBody>
      </p:sp>
      <p:sp>
        <p:nvSpPr>
          <p:cNvPr id="39" name="Step number 6"/>
          <p:cNvSpPr/>
          <p:nvPr/>
        </p:nvSpPr>
        <p:spPr>
          <a:xfrm>
            <a:off x="502920" y="41635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2920" y="4163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1" name="Step text 6"/>
          <p:cNvSpPr txBox="1"/>
          <p:nvPr/>
        </p:nvSpPr>
        <p:spPr>
          <a:xfrm>
            <a:off x="932688" y="4145280"/>
            <a:ext cx="320040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Hỏi AI về dự án</a:t>
            </a:r>
            <a:endParaRPr lang="en-US" sz="1300" dirty="0"/>
          </a:p>
        </p:txBody>
      </p:sp>
      <p:sp>
        <p:nvSpPr>
          <p:cNvPr id="4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4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Mọi view của một dự án dùng chung dữ liệu: sửa ở view này, các view khác cập nhật ngay.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Thanh công cụ (1): lọc, sắp xếp, nhóm, trường, tô màu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b-grid-toolbar" descr="Thanh công cụ (1): lọc, sắp xếp, nhóm, trường, tô mà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691854" y="1974009"/>
            <a:ext cx="32095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540978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540978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012813" y="1974009"/>
            <a:ext cx="466332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861937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861937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479145" y="1974009"/>
            <a:ext cx="39557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328269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328269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6874722" y="1974009"/>
            <a:ext cx="44337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6723846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6723846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7318101" y="1974009"/>
            <a:ext cx="446612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7167225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7167225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Các nút ngay trên bảng; thiết lập được lưu cho view hiện tại.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Lọc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Sắp xếp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Nhóm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Trường (ẩn/hiện cột)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Tô màu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Tô màu: tạo quy tắc như "Hạn chót đã qua → nền đỏ".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Thanh công cụ (2): hiển thị, lưu view, xuất file, tìm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c-grid-toolbar2" descr="Thanh công cụ (2): hiển thị, lưu view, xuất file, tì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764713" y="1974009"/>
            <a:ext cx="588279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613837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613837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8352992" y="1974009"/>
            <a:ext cx="702101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202116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202116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072368" y="1974009"/>
            <a:ext cx="690427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921492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921492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762795" y="1974009"/>
            <a:ext cx="46238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611919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611919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10225183" y="1963912"/>
            <a:ext cx="91878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10074307" y="181303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10074307" y="18130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Điều chỉnh cách hiển thị và chia sẻ kết quả.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Xuống dòng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Chiều cao dòng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 thành view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Xuất file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Tìm trong view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Lưu thành view để giữ bộ lọc + sắp xếp thành một tab mới, VD "Việc quá hạn của tôi".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Lọc task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d-grid-filter" descr="Lọc tas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691854" y="2144808"/>
            <a:ext cx="2281809" cy="646176"/>
          </a:xfrm>
          <a:prstGeom prst="roundRect">
            <a:avLst>
              <a:gd name="adj" fmla="val 566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540978" y="199393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540978" y="19939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Thêm một hoặc nhiều điều kiện: trường, phép so sánh, giá trị.</a:t>
            </a:r>
            <a:endParaRPr lang="en-US" sz="1400" dirty="0"/>
          </a:p>
        </p:txBody>
      </p:sp>
      <p:sp>
        <p:nvSpPr>
          <p:cNvPr id="9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Bảng điều kiện lọc</a:t>
            </a:r>
            <a:endParaRPr lang="en-US" sz="1300" dirty="0"/>
          </a:p>
        </p:txBody>
      </p:sp>
      <p:sp>
        <p:nvSpPr>
          <p:cNvPr id="1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1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Kết hợp nhiều điều kiện (và/hoặc), VD Người phụ trách = tôi và Trạng thái ≠ Done.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Nhóm task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e-grid-group" descr="Nhóm tas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479381" y="2144808"/>
            <a:ext cx="1776984" cy="625983"/>
          </a:xfrm>
          <a:prstGeom prst="roundRect">
            <a:avLst>
              <a:gd name="adj" fmla="val 584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328505" y="199393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328505" y="19939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Gom các dòng theo một trường (trạng thái, người phụ trách, category, ưu tiên…).</a:t>
            </a:r>
            <a:endParaRPr lang="en-US" sz="1400" dirty="0"/>
          </a:p>
        </p:txBody>
      </p:sp>
      <p:sp>
        <p:nvSpPr>
          <p:cNvPr id="9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trường để nhóm</a:t>
            </a:r>
            <a:endParaRPr lang="en-US" sz="1300" dirty="0"/>
          </a:p>
        </p:txBody>
      </p:sp>
      <p:sp>
        <p:nvSpPr>
          <p:cNvPr id="1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1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Mỗi nhóm có thể thu gọn/mở rộng và hiện số task.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Xuất file CSV / Excel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f-export" descr="Xuất file CSV / Exc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8074628" y="2693384"/>
            <a:ext cx="1034891" cy="201930"/>
          </a:xfrm>
          <a:prstGeom prst="roundRect">
            <a:avLst>
              <a:gd name="adj" fmla="val 1811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923752" y="254250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923752" y="25425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029641" y="3773710"/>
            <a:ext cx="207987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878765" y="362283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878765" y="362283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8502231" y="4197763"/>
            <a:ext cx="60728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351355" y="404688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351355" y="404688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Xuất view đang lọc, tất cả hoặc các task đã chọn; chỉ trường đang hiện hoặc tất cả.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Định dạng CSV / XLSX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trường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Xuất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Nhập task từ Excel: Cài đặt → Nhập / xuất dữ liệu (có file mẫu).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Thêm view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g-add-view" descr="Thêm 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359906" y="1958022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209030" y="180714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209030" y="180714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359906" y="2119566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209030" y="196869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209030" y="19686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359906" y="2281110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209030" y="213023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209030" y="213023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6359906" y="2604198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6209030" y="245332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6209030" y="2453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6359906" y="2765742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6209030" y="26148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6209030" y="26148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Callout box 6"/>
          <p:cNvSpPr/>
          <p:nvPr/>
        </p:nvSpPr>
        <p:spPr>
          <a:xfrm>
            <a:off x="6359906" y="2442654"/>
            <a:ext cx="888492" cy="191833"/>
          </a:xfrm>
          <a:prstGeom prst="roundRect">
            <a:avLst>
              <a:gd name="adj" fmla="val 1906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21" name="Callout number 6"/>
          <p:cNvSpPr/>
          <p:nvPr/>
        </p:nvSpPr>
        <p:spPr>
          <a:xfrm>
            <a:off x="6209030" y="229177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Callout label 6"/>
          <p:cNvSpPr txBox="1"/>
          <p:nvPr/>
        </p:nvSpPr>
        <p:spPr>
          <a:xfrm>
            <a:off x="6209030" y="2291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23" name="Callout box 7"/>
          <p:cNvSpPr/>
          <p:nvPr/>
        </p:nvSpPr>
        <p:spPr>
          <a:xfrm>
            <a:off x="6359906" y="2927286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24" name="Callout number 7"/>
          <p:cNvSpPr/>
          <p:nvPr/>
        </p:nvSpPr>
        <p:spPr>
          <a:xfrm>
            <a:off x="6209030" y="277641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allout label 7"/>
          <p:cNvSpPr txBox="1"/>
          <p:nvPr/>
        </p:nvSpPr>
        <p:spPr>
          <a:xfrm>
            <a:off x="6209030" y="27764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26" name="Callout box 8"/>
          <p:cNvSpPr/>
          <p:nvPr/>
        </p:nvSpPr>
        <p:spPr>
          <a:xfrm>
            <a:off x="6359906" y="3088830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27" name="Callout number 8"/>
          <p:cNvSpPr/>
          <p:nvPr/>
        </p:nvSpPr>
        <p:spPr>
          <a:xfrm>
            <a:off x="6209030" y="293795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allout label 8"/>
          <p:cNvSpPr txBox="1"/>
          <p:nvPr/>
        </p:nvSpPr>
        <p:spPr>
          <a:xfrm>
            <a:off x="6209030" y="293795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29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Mỗi dự án có nhiều view; bấm + Thêm view và chọn loại.</a:t>
            </a:r>
            <a:endParaRPr lang="en-US" sz="1400" dirty="0"/>
          </a:p>
        </p:txBody>
      </p:sp>
      <p:sp>
        <p:nvSpPr>
          <p:cNvPr id="30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32" name="Step text 1"/>
          <p:cNvSpPr txBox="1"/>
          <p:nvPr/>
        </p:nvSpPr>
        <p:spPr>
          <a:xfrm>
            <a:off x="932688" y="201168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Bảng (Grid)</a:t>
            </a:r>
            <a:endParaRPr lang="en-US" sz="1300" dirty="0"/>
          </a:p>
        </p:txBody>
      </p:sp>
      <p:sp>
        <p:nvSpPr>
          <p:cNvPr id="33" name="Step number 2"/>
          <p:cNvSpPr/>
          <p:nvPr/>
        </p:nvSpPr>
        <p:spPr>
          <a:xfrm>
            <a:off x="502920" y="23500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35" name="Step text 2"/>
          <p:cNvSpPr txBox="1"/>
          <p:nvPr/>
        </p:nvSpPr>
        <p:spPr>
          <a:xfrm>
            <a:off x="932688" y="233172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Kanban</a:t>
            </a:r>
            <a:endParaRPr lang="en-US" sz="1300" dirty="0"/>
          </a:p>
        </p:txBody>
      </p:sp>
      <p:sp>
        <p:nvSpPr>
          <p:cNvPr id="36" name="Step number 3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8" name="Step text 3"/>
          <p:cNvSpPr txBox="1"/>
          <p:nvPr/>
        </p:nvSpPr>
        <p:spPr>
          <a:xfrm>
            <a:off x="932688" y="265176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Lịch</a:t>
            </a:r>
            <a:endParaRPr lang="en-US" sz="1300" dirty="0"/>
          </a:p>
        </p:txBody>
      </p:sp>
      <p:sp>
        <p:nvSpPr>
          <p:cNvPr id="39" name="Step number 4"/>
          <p:cNvSpPr/>
          <p:nvPr/>
        </p:nvSpPr>
        <p:spPr>
          <a:xfrm>
            <a:off x="502920" y="299008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2920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41" name="Step text 4"/>
          <p:cNvSpPr txBox="1"/>
          <p:nvPr/>
        </p:nvSpPr>
        <p:spPr>
          <a:xfrm>
            <a:off x="932688" y="297180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Gallery</a:t>
            </a:r>
            <a:endParaRPr lang="en-US" sz="1300" dirty="0"/>
          </a:p>
        </p:txBody>
      </p:sp>
      <p:sp>
        <p:nvSpPr>
          <p:cNvPr id="42" name="Step number 5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44" name="Step text 5"/>
          <p:cNvSpPr txBox="1"/>
          <p:nvPr/>
        </p:nvSpPr>
        <p:spPr>
          <a:xfrm>
            <a:off x="932688" y="329184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Biểu mẫu</a:t>
            </a:r>
            <a:endParaRPr lang="en-US" sz="1300" dirty="0"/>
          </a:p>
        </p:txBody>
      </p:sp>
      <p:sp>
        <p:nvSpPr>
          <p:cNvPr id="45" name="Step number 6"/>
          <p:cNvSpPr/>
          <p:nvPr/>
        </p:nvSpPr>
        <p:spPr>
          <a:xfrm>
            <a:off x="502920" y="36301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02920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7" name="Step text 6"/>
          <p:cNvSpPr txBox="1"/>
          <p:nvPr/>
        </p:nvSpPr>
        <p:spPr>
          <a:xfrm>
            <a:off x="932688" y="361188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Gantt</a:t>
            </a:r>
            <a:endParaRPr lang="en-US" sz="1300" dirty="0"/>
          </a:p>
        </p:txBody>
      </p:sp>
      <p:sp>
        <p:nvSpPr>
          <p:cNvPr id="48" name="Step number 7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50" name="Step text 7"/>
          <p:cNvSpPr txBox="1"/>
          <p:nvPr/>
        </p:nvSpPr>
        <p:spPr>
          <a:xfrm>
            <a:off x="932688" y="393192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Eisenhower</a:t>
            </a:r>
            <a:endParaRPr lang="en-US" sz="1300" dirty="0"/>
          </a:p>
        </p:txBody>
      </p:sp>
      <p:sp>
        <p:nvSpPr>
          <p:cNvPr id="51" name="Step number 8"/>
          <p:cNvSpPr/>
          <p:nvPr/>
        </p:nvSpPr>
        <p:spPr>
          <a:xfrm>
            <a:off x="502920" y="42702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02920" y="4270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tep text 8"/>
          <p:cNvSpPr txBox="1"/>
          <p:nvPr/>
        </p:nvSpPr>
        <p:spPr>
          <a:xfrm>
            <a:off x="932688" y="425196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Bảng điều khiển</a:t>
            </a:r>
            <a:endParaRPr lang="en-US" sz="1300" dirty="0"/>
          </a:p>
        </p:txBody>
      </p:sp>
      <p:sp>
        <p:nvSpPr>
          <p:cNvPr id="5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5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5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Đổi tên, nhân bản, xoá, đặt view công khai bằng nút … trên tab view.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So sánh 8 loại view</a:t>
            </a:r>
            <a:endParaRPr lang="en-US" sz="3000" dirty="0"/>
          </a:p>
        </p:txBody>
      </p:sp>
      <p:sp>
        <p:nvSpPr>
          <p:cNvPr id="3" name="Lead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Cùng một dữ liệu task, mỗi view là một cách nhìn. Chọn view theo câu hỏi bạn cần trả lời.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55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384048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Dùng khi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Thao tác chính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Cài đặt riêng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Bảng (Grid)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Quản lý nhiều task như bảng tính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Sửa trong ô, dán nhiều ô, chọn nhiều dòng, mở panel/trang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Lọc, sắp xếp, nhóm, ẩn/hiện cột, tô màu, xuống dòng, chiều cao dòng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Kanban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Theo dõi luồng việc theo cột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Kéo thẻ để đổi trạng thái/nhóm; + ở đầu cột để thêm task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Nhóm theo trường, trường hiển thị trên thẻ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Lịch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Xem hạn chót, lịch triển khai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Tháng / Tuần / Ngày; kéo task sang ngày khác để đổi ngày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Chọn trường ngày dùng để hiển thị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Gallery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Hồ sơ, tài liệu có hình ảnh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Bấm thẻ để mở; thao tác nhanh trên thẻ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bìa, trường hiển thị trên thẻ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Biểu mẫu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Nhận yêu cầu từ người khác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lần gửi tạo một task mới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Trường trên form, bắt buộc, link công khai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Gantt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Kế hoạch nhiều bước theo thời gian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Kéo thanh để dời, kéo mép đổi thời lượng, nhấp đúp để mở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Trường ngày bắt đầu / kết thúc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Eisenhower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tiên theo quan trọng &amp; khẩn cấp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Kéo thẻ giữa 4 ô để đổi mức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Trường quan trọng / khẩn cấp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Bảng điều khiển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Tổng hợp số liệu bằng biểu đồ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Thêm/kéo/đổi cỡ widget, bấm biểu đồ xem task, AI Narrative, báo cáo PDF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biểu đồ, trường nhóm, phép tính, màu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Chi tiết task - panel bên cạnh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9-task-drawer" descr="Chi tiết task - panel bên cạ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185243" y="2774156"/>
            <a:ext cx="2453450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034367" y="262328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034367" y="262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633039" y="1461611"/>
            <a:ext cx="538743" cy="201930"/>
          </a:xfrm>
          <a:prstGeom prst="roundRect">
            <a:avLst>
              <a:gd name="adj" fmla="val 1811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482163" y="131073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482163" y="13107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161685" y="1461611"/>
            <a:ext cx="646334" cy="201930"/>
          </a:xfrm>
          <a:prstGeom prst="roundRect">
            <a:avLst>
              <a:gd name="adj" fmla="val 1811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10010809" y="131073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10010809" y="13107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11154061" y="1269778"/>
            <a:ext cx="166592" cy="166592"/>
          </a:xfrm>
          <a:prstGeom prst="roundRect">
            <a:avLst>
              <a:gd name="adj" fmla="val 2195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11003185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11003185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11310557" y="1269778"/>
            <a:ext cx="166592" cy="166592"/>
          </a:xfrm>
          <a:prstGeom prst="roundRect">
            <a:avLst>
              <a:gd name="adj" fmla="val 2195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11159681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11159681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Bấm nút mở trên dòng/thẻ ở mọi view; panel hiện tất cả thuộc tính của task.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thuộc tính của task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Tab Bình luận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Tab File đính kèm / Lịch sử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Mở thành trang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Xoá task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Sửa trường ngay trong panel; mọi view cập nhật theo.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Bình luận và @nhắc tên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9b-drawer-comments" descr="Bình luận và @nhắc tê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366980" y="1794796"/>
            <a:ext cx="2271713" cy="263456"/>
          </a:xfrm>
          <a:prstGeom prst="roundRect">
            <a:avLst>
              <a:gd name="adj" fmla="val 1388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216104" y="164392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216104" y="1643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366980" y="2058961"/>
            <a:ext cx="304157" cy="129756"/>
          </a:xfrm>
          <a:prstGeom prst="roundRect">
            <a:avLst>
              <a:gd name="adj" fmla="val 2818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216104" y="190808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216104" y="190808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170098" y="5045869"/>
            <a:ext cx="2302002" cy="292799"/>
          </a:xfrm>
          <a:prstGeom prst="roundRect">
            <a:avLst>
              <a:gd name="adj" fmla="val 1249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9019223" y="48949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9019223" y="48949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Trao đổi ngay trên task; gõ @ để nhắc đồng nghiệp (họ nhận thông báo).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Bình luận (có @mention)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Trả lời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Viết bình luận, gõ @ để nhắc tên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Bình luận có định dạng, trả lời lồng nhau, thả cảm xúc; AI cũng đọc bình luận khi tóm tắt.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Trang task đầy đủ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9c-task-page" descr="Trang task đầy đ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752433" y="2057305"/>
            <a:ext cx="3907346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601557" y="190642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601557" y="19064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752433" y="2299621"/>
            <a:ext cx="390734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601557" y="214874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601557" y="21487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906747" y="2299621"/>
            <a:ext cx="57305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755871" y="214874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755871" y="21487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629489" y="5394198"/>
            <a:ext cx="30290" cy="30290"/>
          </a:xfrm>
          <a:prstGeom prst="roundRect">
            <a:avLst>
              <a:gd name="adj" fmla="val 12075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478613" y="524332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478613" y="5243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5752433" y="1880616"/>
            <a:ext cx="469803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5601557" y="172974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5601557" y="172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Nội dung dài, checklist, file đính kèm, phê duyệt, focus, AI trên một trang.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Tên task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Thao tác: focus, phê duyệt, AI…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Gửi duyệt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Trạng thái lưu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Quay lại danh sách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Gửi duyệt: chọn người duyệt; họ duyệt/từ chối ngay trong Trung tâm xử lý.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Kanban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0-kanban" descr="View Kan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342632" y="2433399"/>
            <a:ext cx="391713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191756" y="228252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191756" y="22825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737288" y="3115939"/>
            <a:ext cx="1393317" cy="589147"/>
          </a:xfrm>
          <a:prstGeom prst="roundRect">
            <a:avLst>
              <a:gd name="adj" fmla="val 620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586412" y="296506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586412" y="29650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893338" y="3151276"/>
            <a:ext cx="111062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742462" y="300040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742462" y="30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5691854" y="2165842"/>
            <a:ext cx="694292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5540978" y="20149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5540978" y="20149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Theo dõi luồng công việc theo cột (trạng thái, người, ưu tiên…).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Cột theo trạng thái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thẻ để mở; kéo thẻ để đổi trạng thái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Mở panel / mở trang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Cài đặt Kanban (nhóm theo, trường trên thẻ)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Bấm + ở đầu cột để thêm task đúng cột đó.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Lịch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0b-calendar" descr="View Lị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113883" y="2175939"/>
            <a:ext cx="303053" cy="151448"/>
          </a:xfrm>
          <a:prstGeom prst="roundRect">
            <a:avLst>
              <a:gd name="adj" fmla="val 241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963007" y="202506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963007" y="20250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691854" y="2165842"/>
            <a:ext cx="171641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540978" y="20149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540978" y="20149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8280818" y="3509702"/>
            <a:ext cx="723398" cy="109563"/>
          </a:xfrm>
          <a:prstGeom prst="roundRect">
            <a:avLst>
              <a:gd name="adj" fmla="val 3338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129942" y="335882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129942" y="33588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11102237" y="2165842"/>
            <a:ext cx="55664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10951361" y="20149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10951361" y="20149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Xem task theo ngày bắt đầu/hạn chót; kéo task sang ngày khác để đổi hạn.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Tháng / Tuần / Ngày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Kỳ trước / sau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Task trên lịch (kéo để đổi ngày)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Cài đặt lịch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Chọn trường ngày (bắt đầu, hạn, ngày kết thúc) trong Cài đặt lịch.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Gallery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0c-gallery" descr="View Galle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712047" y="2027015"/>
            <a:ext cx="1458944" cy="620856"/>
          </a:xfrm>
          <a:prstGeom prst="roundRect">
            <a:avLst>
              <a:gd name="adj" fmla="val 589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561171" y="187613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561171" y="18761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974110" y="2087594"/>
            <a:ext cx="136303" cy="136303"/>
          </a:xfrm>
          <a:prstGeom prst="roundRect">
            <a:avLst>
              <a:gd name="adj" fmla="val 2683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823234" y="193671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823234" y="19367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148828" y="1772079"/>
            <a:ext cx="328767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9997952" y="162120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9997952" y="16212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Thẻ lớn có ảnh bìa - hợp cho hồ sơ ứng viên, tài liệu đào tạo.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Thẻ task (bấm để mở)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Thao tác nhanh trên thẻ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Cài đặt Gallery (ảnh bìa, trường hiển thị)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Chọn trường hiển thị trên thẻ và kiểu ảnh bìa trong Cài đặt Gallery.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Biểu mẫu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0d-form" descr="View Biểu mẫ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691854" y="1996726"/>
            <a:ext cx="482187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540978" y="184585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540978" y="18458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908929" y="2239042"/>
            <a:ext cx="1102096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58053" y="20881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58053" y="20881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011025" y="2244090"/>
            <a:ext cx="286173" cy="121158"/>
          </a:xfrm>
          <a:prstGeom prst="roundRect">
            <a:avLst>
              <a:gd name="adj" fmla="val 30189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860149" y="209321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860149" y="20932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Tạo form nhận yêu cầu; mỗi lần gửi thành một task mới trong dự án.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Link công khai để gửi người ngoài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trường trên biểu mẫu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Bắt buộc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Bật Link công khai để người ngoài workspace gửi được; đặt trường bắt buộc, giá trị mặc định, điều kiện hiển thị.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Eisenhower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0e-eisenhower" descr="View Eisenhow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828157" y="2407448"/>
            <a:ext cx="546789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677281" y="225657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677281" y="22565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8730901" y="4217956"/>
            <a:ext cx="2892647" cy="488182"/>
          </a:xfrm>
          <a:prstGeom prst="roundRect">
            <a:avLst>
              <a:gd name="adj" fmla="val 749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580025" y="406708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580025" y="4067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4737735" y="5329517"/>
            <a:ext cx="397550" cy="116820"/>
          </a:xfrm>
          <a:prstGeom prst="roundRect">
            <a:avLst>
              <a:gd name="adj" fmla="val 3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4586859" y="517864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4586859" y="517864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Chia task vào 4 ô theo mức quan trọng và khẩn cấp.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4 ô theo quan trọng / khẩn cấp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Thẻ task (bấm để mở, kéo để đổi ô)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Cài đặt (trường quan trọng / khẩn cấp)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Làm ngay - lên lịch - giao việc - cân nhắc bỏ; kéo thẻ giữa các ô để đổi mức.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Gantt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1-gantt" descr="View Gant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8296751" y="2789301"/>
            <a:ext cx="1105567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145875" y="263842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145875" y="26384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8332089" y="2820300"/>
            <a:ext cx="647832" cy="109563"/>
          </a:xfrm>
          <a:prstGeom prst="roundRect">
            <a:avLst>
              <a:gd name="adj" fmla="val 3338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181213" y="266942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181213" y="266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Xem tiến trình theo thời gian, phát hiện việc chồng chéo.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Thanh thời gian (kéo để dời, kéo mép để đổi thời lượng, nhấp đúp để mở)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Danh sách task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Phù hợp kế hoạch tuyển dụng, onboarding nhiều bước.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Thao tác dùng chung ở mọi view</a:t>
            </a:r>
            <a:endParaRPr lang="en-US" sz="3000" dirty="0"/>
          </a:p>
        </p:txBody>
      </p:sp>
      <p:sp>
        <p:nvSpPr>
          <p:cNvPr id="3" name="Lead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Những thao tác giống nhau dù bạn đang ở view nào.</a:t>
            </a:r>
            <a:endParaRPr lang="en-US" sz="14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55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12064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Thao tác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 làm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Ghi chú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Mở task bên cạnh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Bấm nút panel trên dòng/thẻ (hiện khi rê chuột; luôn hiện trên điện thoại)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Panel giống hệt view Tất cả task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Mở task toàn trang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Bấm nút mở rộng trên dòng/thẻ, hoặc "Mở thành trang" trong panel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Phù hợp nội dung dài, checklist, phê duyệt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Đồng bộ dữ liệu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Sửa ở bất kỳ view nào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view và All tasks cập nhật ngay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Thêm 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Thêm view trên thanh tab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 mới cũng xuất hiện ở thanh bên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Quản lý 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Nút … trên tab 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Đổi tên, nhân bản, xoá, công khai/riêng tư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Lọc, tìm trong 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Thanh công cụ của 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 lưu riêng cho từng 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Hỏi AI về dự án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Nút Hỏi AI góc dưới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chỉ đọc dữ liệu bạn được xem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Tìm toàn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Ctrl K / Cmd 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Tìm task, dự án, trang, người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4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Bảng điều khiển &amp; báo cáo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Biểu đồ tự cập nhật, AI diễn giải và báo cáo PDF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Bảng điều khiển của dự án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4-dashboard" descr="Bảng điều khiển của dự á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206329" y="2631307"/>
            <a:ext cx="1948624" cy="2190941"/>
          </a:xfrm>
          <a:prstGeom prst="roundRect">
            <a:avLst>
              <a:gd name="adj" fmla="val 187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055453" y="248043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055453" y="24804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07964" y="3948900"/>
            <a:ext cx="1282256" cy="1627035"/>
          </a:xfrm>
          <a:prstGeom prst="roundRect">
            <a:avLst>
              <a:gd name="adj" fmla="val 285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657088" y="379802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657088" y="3798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069449" y="2239042"/>
            <a:ext cx="779481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918573" y="20881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918573" y="20881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859027" y="2239042"/>
            <a:ext cx="668499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708151" y="20881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708151" y="20881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10537622" y="2239042"/>
            <a:ext cx="52359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10386746" y="20881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10386746" y="20881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View Bảng điều khiển (trước là "Báo cáo"): biểu đồ tính từ task của view.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Biểu đồ của bảng điều khiển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AI Narrative tự cập nhật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Báo cáo PDF bằng AI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Thư viện báo cáo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Tạo bằng AI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Kéo tiêu đề thẻ để di chuyển, kéo góc để đổi cỡ; bấm vào phần biểu đồ để xem danh sách task.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Các loại widget biểu đồ</a:t>
            </a:r>
            <a:endParaRPr lang="en-US" sz="3000" dirty="0"/>
          </a:p>
        </p:txBody>
      </p:sp>
      <p:sp>
        <p:nvSpPr>
          <p:cNvPr id="3" name="Lead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Bảng điều khiển của dự án có 11 loại; dashboard của workspace có thêm 6 loại (17 loại).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55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40080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Dùng để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 Card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con số nổi bật: tổng task, % hoàn thành, quá hạn…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 +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/ 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 sánh giữa các nhóm (người, trạng thái, category)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 +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Stacked Bar / 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 sánh nhóm và cơ cấu bên trong (VD trạng thái theo người)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 +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/ Area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Xu hướng theo thời gian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 +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Pie / Donut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Tỷ trọng các phần trong tổng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 +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Pivot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Bảng chéo hàng × cột với phép tính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Danh sách chi tiết có cột tuỳ chọn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Combo, Scatter, Radar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Kết hợp cột + đường; tương quan; so sánh nhiều tiêu chí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Treemap, Funnel, Gauge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Cơ cấu phân cấp; phễu (VD tuyển dụng); mức đạt so với mục tiêu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Narrative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Đoạn diễn giải do AI viết, tự cập nhật khi dữ liệu/bộ lọc đổi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 +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Báo cáo PDF bằng AI - nêu yêu cầu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5-ai-report" descr="Báo cáo PDF bằng AI - nêu yêu cầ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898386" y="2180987"/>
            <a:ext cx="2534222" cy="535115"/>
          </a:xfrm>
          <a:prstGeom prst="roundRect">
            <a:avLst>
              <a:gd name="adj" fmla="val 683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747510" y="203011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747510" y="2030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706553" y="2746391"/>
            <a:ext cx="2615625" cy="143875"/>
          </a:xfrm>
          <a:prstGeom prst="roundRect">
            <a:avLst>
              <a:gd name="adj" fmla="val 2542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555677" y="259551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555677" y="25955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706553" y="3352181"/>
            <a:ext cx="2726055" cy="625983"/>
          </a:xfrm>
          <a:prstGeom prst="roundRect">
            <a:avLst>
              <a:gd name="adj" fmla="val 584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555677" y="320130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555677" y="320130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6706553" y="4253294"/>
            <a:ext cx="272605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6555677" y="410241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6555677" y="41024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8792269" y="4599099"/>
            <a:ext cx="64033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8641393" y="444822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8641393" y="44482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AI hỏi bạn muốn báo cáo thế nào trước khi soạn.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AI hỏi bạn muốn báo cáo thế nào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8254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825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807208"/>
            <a:ext cx="32004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Gợi ý nhanh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6210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602736"/>
            <a:ext cx="32004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yêu cầu (có bộ đếm ký tự)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441655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4416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4398264"/>
            <a:ext cx="32004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Đặt tên file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521208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5212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5193792"/>
            <a:ext cx="32004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Tạo báo cáo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Xem trước, tải PDF, lưu thư viện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6-report-preview" descr="Xem trước, tải PDF, lưu thư việ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898833" y="2117884"/>
            <a:ext cx="4341495" cy="2635187"/>
          </a:xfrm>
          <a:prstGeom prst="roundRect">
            <a:avLst>
              <a:gd name="adj" fmla="val 138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747957" y="196700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747957" y="1967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98833" y="4803553"/>
            <a:ext cx="64830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47957" y="465267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47957" y="465267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8941586" y="4803553"/>
            <a:ext cx="506560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790710" y="465267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790710" y="465267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458243" y="4803553"/>
            <a:ext cx="78208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307367" y="465267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307367" y="465267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Báo cáo dùng đúng các biểu đồ đang hiển thị trên bảng điều khiển.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Xem trước báo cáo kèm biểu đồ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Sửa yêu cầu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Tải PDF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 vào thư viện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Kiểm tra lại các số liệu quan trọng trước khi gửi lãnh đạo.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Thư viện báo cáo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7-report-library" descr="Thư viện báo cá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464236" y="3314319"/>
            <a:ext cx="95917" cy="95917"/>
          </a:xfrm>
          <a:prstGeom prst="roundRect">
            <a:avLst>
              <a:gd name="adj" fmla="val 381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313360" y="316344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313360" y="31634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469285" y="3485960"/>
            <a:ext cx="3200591" cy="315516"/>
          </a:xfrm>
          <a:prstGeom prst="roundRect">
            <a:avLst>
              <a:gd name="adj" fmla="val 1159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318409" y="333508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318409" y="33350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Mở lại, tải lại hoặc xoá các báo cáo bạn đã lưu - chỉ bạn xem được.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Lọc theo dashboard này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Báo cáo đã lưu (bấm để mở, tải lại)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Thư viện cũng có ở trang Báo cáo &amp; dashboard.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Dashboard của workspace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4-dashboard-ws" descr="Dashboard của worksp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434499" y="1570149"/>
            <a:ext cx="489996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283623" y="141927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283623" y="141927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0933436" y="1549956"/>
            <a:ext cx="543712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10782560" y="139908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10782560" y="139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409838" y="1549956"/>
            <a:ext cx="52359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10258962" y="139908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10258962" y="139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8961858" y="1549956"/>
            <a:ext cx="779481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8810982" y="139908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8810982" y="139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5807964" y="3837838"/>
            <a:ext cx="1812322" cy="575501"/>
          </a:xfrm>
          <a:prstGeom prst="roundRect">
            <a:avLst>
              <a:gd name="adj" fmla="val 635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5657088" y="368696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5657088" y="368696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Báo cáo &amp; dashboard: lấy dữ liệu từ nhiều dự án; nhiều dashboard dạng tab.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dashboard (tab)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Thêm widget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Tạo bằng AI (thêm / thay / tạo mới)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Báo cáo PDF bằng AI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Widget AI Narrative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Bộ lọc dashboard (slicer) áp dụng cho mọi widget; bấm phần biểu đồ để lọc chéo.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Tạo dashboard bằng AI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4b-ai-build" descr="Tạo dashboard bằng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706553" y="2329910"/>
            <a:ext cx="2726055" cy="726948"/>
          </a:xfrm>
          <a:prstGeom prst="roundRect">
            <a:avLst>
              <a:gd name="adj" fmla="val 503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555677" y="217903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555677" y="217903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706553" y="3087148"/>
            <a:ext cx="2726055" cy="113586"/>
          </a:xfrm>
          <a:prstGeom prst="roundRect">
            <a:avLst>
              <a:gd name="adj" fmla="val 3220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555677" y="293627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555677" y="2936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706553" y="3672745"/>
            <a:ext cx="2726055" cy="949071"/>
          </a:xfrm>
          <a:prstGeom prst="roundRect">
            <a:avLst>
              <a:gd name="adj" fmla="val 385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555677" y="352186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555677" y="3521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063454" y="4672298"/>
            <a:ext cx="369153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8912578" y="452142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8912578" y="45214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Mô tả một biểu đồ hoặc cả bố cục (hàng KPI, chia cột…); AI dựng tối đa 16 widget.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Mô tả widget hoặc cả bộ dashboard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Bộ đếm ký tự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Thêm / thay / tạo dashboard mới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Tạo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Chọn Tạo dashboard mới để giữ nguyên dashboard hiện tại.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5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Mục tiêu và tri thức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Đặt OKR đo được và lưu quy trình ở một nơi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Tất cả OKR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3-okr-list" descr="Tất cả OK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8496867" y="1542383"/>
            <a:ext cx="67646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345991" y="139150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345991" y="139150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1041185" y="1552480"/>
            <a:ext cx="59750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10890309" y="140160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10890309" y="14016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004846" y="1996726"/>
            <a:ext cx="1168828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5853970" y="184585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5853970" y="18458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Danh sách mục tiêu của workspace, tiến độ tự tính từ key result và task.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Lọc theo chu kỳ / khoảng ngày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Mục tiêu mới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Mục tiêu (bấm để mở chi tiết)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Lọc theo chu kỳ (quý/năm) hoặc khoảng ngày tuỳ chọn.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Tạo mục tiêu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4-okr-dialog" descr="Tạo mục tiê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868097" y="1931099"/>
            <a:ext cx="238277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717221" y="178022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717221" y="17802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868097" y="5005483"/>
            <a:ext cx="787527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717221" y="485460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717221" y="485460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8993646" y="4949952"/>
            <a:ext cx="277417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842770" y="479907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842770" y="4799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Mục tiêu tốt có tên rõ ràng, chu kỳ và key result đo được.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Tên mục tiêu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Chu kỳ: Quý / Năm / Tuỳ chọn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Ví dụ KR: "100% nhân viên mới hoàn thành onboarding trong 7 ngày".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Chi tiết mục tiêu và key result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3-okr-detail" descr="Chi tiết mục tiêu và key resu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981841" y="2010372"/>
            <a:ext cx="46041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830965" y="185949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830965" y="1859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827711" y="3083914"/>
            <a:ext cx="3695319" cy="149949"/>
          </a:xfrm>
          <a:prstGeom prst="roundRect">
            <a:avLst>
              <a:gd name="adj" fmla="val 2439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676835" y="293303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676835" y="293303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827711" y="3203573"/>
            <a:ext cx="3695319" cy="447796"/>
          </a:xfrm>
          <a:prstGeom prst="roundRect">
            <a:avLst>
              <a:gd name="adj" fmla="val 816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676835" y="305269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676835" y="30526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Cập nhật số đo KR; liên kết task để tiến độ tự cập nhật.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Tiến độ mục tiêu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Số đo KR (hiện tại / mục tiêu / đơn vị)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Task liên kết KR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Đặt độ tự tin và hạn cho từng KR để thấy sớm rủi ro.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Wiki - kho quy trình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6-wiki" descr="Wiki - kho quy trì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206329" y="3071766"/>
            <a:ext cx="4230434" cy="203508"/>
          </a:xfrm>
          <a:prstGeom prst="roundRect">
            <a:avLst>
              <a:gd name="adj" fmla="val 1797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055453" y="292089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055453" y="29208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671661" y="1764506"/>
            <a:ext cx="1236821" cy="204770"/>
          </a:xfrm>
          <a:prstGeom prst="roundRect">
            <a:avLst>
              <a:gd name="adj" fmla="val 1786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520785" y="161363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520785" y="16136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5671661" y="1969276"/>
            <a:ext cx="1236821" cy="177399"/>
          </a:xfrm>
          <a:prstGeom prst="roundRect">
            <a:avLst>
              <a:gd name="adj" fmla="val 2061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5520785" y="181840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5520785" y="1818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7206329" y="6381525"/>
            <a:ext cx="4230434" cy="-805590"/>
          </a:xfrm>
          <a:prstGeom prst="roundRect">
            <a:avLst>
              <a:gd name="adj" fmla="val -454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7055453" y="541134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7055453" y="54113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Lưu quy trình, chính sách, hướng dẫn; bình luận và hỏi AI ngay trên trang.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Nội dung trang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Hỏi AI về wiki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Chia sẻ / phân quyền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Bình luận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Gõ [[ để liên kết tới trang, task, mục tiêu hoặc người khác.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Icon và phân quyền wiki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5-wiki-share" descr="Icon và phân quyền wik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170098" y="1933623"/>
            <a:ext cx="484632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019223" y="178274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019223" y="178274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042261" y="3210830"/>
            <a:ext cx="838010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891385" y="305995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891385" y="305995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464236" y="3453146"/>
            <a:ext cx="3190494" cy="1228776"/>
          </a:xfrm>
          <a:prstGeom prst="roundRect">
            <a:avLst>
              <a:gd name="adj" fmla="val 297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313360" y="330227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313360" y="330227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397506" y="4949952"/>
            <a:ext cx="277417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246630" y="479907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246630" y="4799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Chọn icon, ai được truy cập, vai trò Chỉ xem / Được chỉnh sửa / Quản lý.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Icon của wiki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Ai được truy cập &amp; vai trò mặc định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Mỗi vai trò được làm gì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Mỗi vai trò có mô tả ngay trong danh sách; Quản trị workspace và người tạo wiki luôn là Quản lý.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Second Brain Home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7-brain" descr="Second Brain 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873591" y="1900809"/>
            <a:ext cx="884942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722715" y="17499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722715" y="17499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73591" y="2163318"/>
            <a:ext cx="5603558" cy="201930"/>
          </a:xfrm>
          <a:prstGeom prst="roundRect">
            <a:avLst>
              <a:gd name="adj" fmla="val 1811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22715" y="201244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22715" y="20124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055328" y="2435924"/>
            <a:ext cx="678832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5904452" y="228504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5904452" y="2285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10453222" y="2825743"/>
            <a:ext cx="92296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10302346" y="267486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10302346" y="26748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Một trang tổng hợp theo ngày, tuần, tháng hoặc năm.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tab Second Brain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Xem theo Ngày / Tuần / Tháng / Năm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Lùi / tiến kỳ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AI viết tổng kết kỳ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Ngày: việc cần chú ý và trang nên ôn. Tuần/Tháng/Năm: thành quả, quyết định, tri thức mới, việc còn treo.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Nhật ký &amp; Quyết định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7b-brain-jd" descr="Nhật ký &amp; Quyết đị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606403" y="1900809"/>
            <a:ext cx="920280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455527" y="17499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455527" y="17499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73591" y="2163318"/>
            <a:ext cx="5603558" cy="201930"/>
          </a:xfrm>
          <a:prstGeom prst="roundRect">
            <a:avLst>
              <a:gd name="adj" fmla="val 1811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22715" y="201244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22715" y="20124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Nhật ký ngày và sổ quyết định nằm chung một tab.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Tab Nhật ký &amp; Quyết định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Chuyển Nhật ký / Quyết định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Ghi mỗi thay đổi chính sách thành một Quyết định kèm lý do để tra cứu sau này.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Hỏi Second Brain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6-brain-ask" descr="Hỏi Second 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245821" y="2228945"/>
            <a:ext cx="309757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094945" y="207806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094945" y="20780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939219" y="2410682"/>
            <a:ext cx="3866959" cy="302895"/>
          </a:xfrm>
          <a:prstGeom prst="roundRect">
            <a:avLst>
              <a:gd name="adj" fmla="val 1207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88343" y="225980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88343" y="22598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5873591" y="3043764"/>
            <a:ext cx="4230434" cy="1365552"/>
          </a:xfrm>
          <a:prstGeom prst="roundRect">
            <a:avLst>
              <a:gd name="adj" fmla="val 267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5722715" y="289288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5722715" y="2892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Hỏi trong phạm vi bạn chọn; câu trả lời trích dẫn [S1], [S2]… bấm để mở nguồn.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Phạm vi: tất cả / dự án / wiki / nguồn chọn / ghi chú của tôi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câu hỏi (tối đa 4.000 ký tự)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Câu hỏi gợi ý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Chọn "Nguồn chọn" để AI chỉ đọc đúng vài trang/task bạn đưa vào.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Sức khỏe tri thức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7-brain-health" descr="Sức khỏe tri thứ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131052" y="2280769"/>
            <a:ext cx="508848" cy="151448"/>
          </a:xfrm>
          <a:prstGeom prst="roundRect">
            <a:avLst>
              <a:gd name="adj" fmla="val 241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980176" y="21298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980176" y="21298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73591" y="2163318"/>
            <a:ext cx="5603558" cy="1514238"/>
          </a:xfrm>
          <a:prstGeom prst="roundRect">
            <a:avLst>
              <a:gd name="adj" fmla="val 241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22715" y="201244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22715" y="20124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Tìm trang lỗi thời, trùng lặp, thiếu nguồn, link hỏng; AI kiểm tra mâu thuẫn.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Điểm sức khỏe tri thức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Danh sách vấn đề và gợi ý xử lý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Đánh dấu đã kiểm tra hoặc sửa ngay từ danh sách gợi ý.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6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Trợ lý AI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Hỏi đáp, viết báo cáo, đọc file và tạo task bằng lời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Hỏi AI kèm ảnh hoặc file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8-ai-attach" descr="Hỏi AI kèm ảnh hoặc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433501" y="5071189"/>
            <a:ext cx="19183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282625" y="492031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282625" y="492031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367873" y="4722860"/>
            <a:ext cx="3907346" cy="161544"/>
          </a:xfrm>
          <a:prstGeom prst="roundRect">
            <a:avLst>
              <a:gd name="adj" fmla="val 2264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7216997" y="457198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7216997" y="4571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635430" y="4929838"/>
            <a:ext cx="3372231" cy="333185"/>
          </a:xfrm>
          <a:prstGeom prst="roundRect">
            <a:avLst>
              <a:gd name="adj" fmla="val 1097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7484555" y="477896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7484555" y="477896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11017758" y="5071189"/>
            <a:ext cx="19183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10866882" y="492031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10866882" y="492031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Workspace Intelligence trả lời từ dữ liệu bạn được xem - và từ file bạn gửi kèm.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Đính kèm ảnh/file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File đã chọn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Gõ câu hỏi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Gửi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Ô nhập có bộ đếm ký tự (tối đa 8.000).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Đọc câu trả lời của AI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9-ai-answer" descr="Đọc câu trả lời của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10384597" y="1865471"/>
            <a:ext cx="890622" cy="151448"/>
          </a:xfrm>
          <a:prstGeom prst="roundRect">
            <a:avLst>
              <a:gd name="adj" fmla="val 241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10233721" y="171459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10233721" y="17145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367873" y="2269331"/>
            <a:ext cx="3907346" cy="797939"/>
          </a:xfrm>
          <a:prstGeom prst="roundRect">
            <a:avLst>
              <a:gd name="adj" fmla="val 458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7216997" y="211845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7216997" y="2118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950867" y="2957707"/>
            <a:ext cx="346752" cy="109563"/>
          </a:xfrm>
          <a:prstGeom prst="roundRect">
            <a:avLst>
              <a:gd name="adj" fmla="val 3338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7799991" y="280683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7799991" y="28068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AI đọc file và trả lời ngay trong cuộc trò chuyện.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File bạn gửi kèm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Câu trả lời dựa trên file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Xuất PDF / Chuyển thành wiki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Xuất câu trả lời thành PDF hoặc chuyển thành trang wiki.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Tạo task bằng lời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0-ai-intake" descr="Tạo task bằng lờ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10109625" y="2052257"/>
            <a:ext cx="1463440" cy="413957"/>
          </a:xfrm>
          <a:prstGeom prst="roundRect">
            <a:avLst>
              <a:gd name="adj" fmla="val 883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958749" y="190138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958749" y="190138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0038397" y="3333723"/>
            <a:ext cx="1534668" cy="1580260"/>
          </a:xfrm>
          <a:prstGeom prst="roundRect">
            <a:avLst>
              <a:gd name="adj" fmla="val 238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887522" y="318284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887522" y="318284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114121" y="4656522"/>
            <a:ext cx="732391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9963245" y="450564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9963245" y="450564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907143" y="5123091"/>
            <a:ext cx="19183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756267" y="497221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756267" y="49722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Trong dự án, bấm Hỏi AI và mô tả việc (nội dung, hạn, người làm); AI hỏi lại phần thiếu.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Bạn mô tả việc bằng lời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Bản nháp task do AI soạn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Xác nhận tạo task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Đính kèm file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AI chỉ tạo task sau khi bạn bấm Xác nhận.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7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Đội nhóm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Ghi nhận đồng nghiệp, mời thành viên, giao việc cho agent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Vinh danh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1-recognition" descr="Vinh da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10836415" y="1732718"/>
            <a:ext cx="640733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10685539" y="158184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10685539" y="15818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73591" y="2579325"/>
            <a:ext cx="743670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22715" y="242844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22715" y="242844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5873591" y="1793297"/>
            <a:ext cx="2327480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5722715" y="164242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5722715" y="164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Gửi lời khen, xem bảng vinh danh và đổi điểm lấy quà.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Gửi lời khen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Bảng vinh danh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Đổi quà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Lời khen gắn với task cụ thể sẽ có ý nghĩa hơn.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Thành viên &amp; vai trò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2-members" descr="Thành viên &amp; vai tr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823109" y="1904359"/>
            <a:ext cx="682460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672233" y="175348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672233" y="175348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044785" y="1915954"/>
            <a:ext cx="596956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893909" y="176507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893909" y="17650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594152" y="2223897"/>
            <a:ext cx="67646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9443276" y="207302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9443276" y="2073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Cài đặt → Thành viên &amp; phân quyền (quản trị viên trở lên).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Menu cài đặt (workspace / cấu hình task / cá nhân / dữ liệu)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Mời thành viên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Đổi vai trò (mỗi vai trò có mô tả)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Mỗi vai trò (Chủ sở hữu, Quản trị, Biên tập, Đóng góp, Chỉ xem) có mô tả ngay trong danh sách.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Mời thành viên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2b-invite" descr="Mời thành viê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913531" y="2885218"/>
            <a:ext cx="2312099" cy="161544"/>
          </a:xfrm>
          <a:prstGeom prst="roundRect">
            <a:avLst>
              <a:gd name="adj" fmla="val 2264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762655" y="273434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762655" y="27343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868097" y="3498580"/>
            <a:ext cx="2402967" cy="196882"/>
          </a:xfrm>
          <a:prstGeom prst="roundRect">
            <a:avLst>
              <a:gd name="adj" fmla="val 1857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717221" y="334770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717221" y="3347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8064532" y="2486406"/>
            <a:ext cx="118633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7913656" y="233553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7913656" y="23355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Mời qua email hoặc link mời chung; người được mời phải đồng ý mới vào.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Email người được mời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Vai trò + mô tả quyền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Link mời chung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Dòng mô tả dưới ô vai trò cho biết người được mời sẽ làm được gì.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Agent Work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3-agent-work" descr="Agent 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732240" y="1895761"/>
            <a:ext cx="542135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581364" y="174488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581364" y="174488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Giao việc nhiều bước cho AI theo skill; việc nhạy cảm luôn cần phê duyệt.</a:t>
            </a:r>
            <a:endParaRPr lang="en-US" sz="1400" dirty="0"/>
          </a:p>
        </p:txBody>
      </p:sp>
      <p:sp>
        <p:nvSpPr>
          <p:cNvPr id="9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tab Agent Work</a:t>
            </a:r>
            <a:endParaRPr lang="en-US" sz="1300" dirty="0"/>
          </a:p>
        </p:txBody>
      </p:sp>
      <p:sp>
        <p:nvSpPr>
          <p:cNvPr id="1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1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Chia sẻ skill: riêng tư, người cụ thể hoặc toàn tổ chức - có mô tả cho từng lựa chọn.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8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Cài đặt &amp; trợ giúp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Hồ sơ cá nhân, giao diện, quyền hạn, cài đặt dự án và Trung tâm trợ giúp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Hồ sơ &amp; AI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8-settings-profile" descr="Hồ sơ &amp;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044785" y="1956340"/>
            <a:ext cx="514922" cy="514922"/>
          </a:xfrm>
          <a:prstGeom prst="roundRect">
            <a:avLst>
              <a:gd name="adj" fmla="val 710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893909" y="180546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893909" y="18054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630382" y="2057305"/>
            <a:ext cx="140341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7479506" y="190642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7479506" y="19064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130606" y="3405188"/>
            <a:ext cx="3251073" cy="424053"/>
          </a:xfrm>
          <a:prstGeom prst="roundRect">
            <a:avLst>
              <a:gd name="adj" fmla="val 862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979730" y="32543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979730" y="3254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7130606" y="4105396"/>
            <a:ext cx="3251073" cy="525018"/>
          </a:xfrm>
          <a:prstGeom prst="roundRect">
            <a:avLst>
              <a:gd name="adj" fmla="val 696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6979730" y="395452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6979730" y="395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11224973" y="1623155"/>
            <a:ext cx="37333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11074097" y="147227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11074097" y="14722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Cài đặt → Hồ sơ &amp; AI: thông tin của bạn và cách AI trả lời bạn.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Ảnh đại diện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Tên, chức danh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Giới thiệu bản thân cho AI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Cách AI nên trả lời (ngôn ngữ, giọng văn)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Ghi "Luôn trả lời bằng tiếng Việt" trong Cách AI nên trả lời để mọi tính năng AI tuân theo.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Giao diện &amp; ngôn ngữ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9-settings-appearance" descr="Giao diện &amp; ngôn ng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044785" y="1623155"/>
            <a:ext cx="3775381" cy="151448"/>
          </a:xfrm>
          <a:prstGeom prst="roundRect">
            <a:avLst>
              <a:gd name="adj" fmla="val 241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893909" y="147227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893909" y="14722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Chế độ sáng/tối/theo hệ thống, tông màu, màu nhấn, cỡ chữ, ngôn ngữ.</a:t>
            </a:r>
            <a:endParaRPr lang="en-US" sz="1400" dirty="0"/>
          </a:p>
        </p:txBody>
      </p:sp>
      <p:sp>
        <p:nvSpPr>
          <p:cNvPr id="9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Giao diện: sáng/tối, tông màu, màu nhấn, cỡ chữ</a:t>
            </a:r>
            <a:endParaRPr lang="en-US" sz="1300" dirty="0"/>
          </a:p>
        </p:txBody>
      </p:sp>
      <p:sp>
        <p:nvSpPr>
          <p:cNvPr id="1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1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Thiết lập giao diện là của riêng bạn, không ảnh hưởng người khác.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Quyền hạn theo vai trò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50-settings-permissions" descr="Quyền hạn theo vai tr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049833" y="1961388"/>
            <a:ext cx="4543425" cy="2079879"/>
          </a:xfrm>
          <a:prstGeom prst="roundRect">
            <a:avLst>
              <a:gd name="adj" fmla="val 1759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898957" y="18105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898957" y="1810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Bảng tổng hợp vai trò nào được làm gì trong workspace.</a:t>
            </a:r>
            <a:endParaRPr lang="en-US" sz="1400" dirty="0"/>
          </a:p>
        </p:txBody>
      </p:sp>
      <p:sp>
        <p:nvSpPr>
          <p:cNvPr id="9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Bảng quyền theo vai trò</a:t>
            </a:r>
            <a:endParaRPr lang="en-US" sz="1300" dirty="0"/>
          </a:p>
        </p:txBody>
      </p:sp>
      <p:sp>
        <p:nvSpPr>
          <p:cNvPr id="1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1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Phân quyền chi tiết hơn: ẩn dự án với người chọn, quyền theo wiki, quyền theo view.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Trạng thái task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51-settings-statuses" descr="Trạng thái tas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049833" y="4497660"/>
            <a:ext cx="3897249" cy="277654"/>
          </a:xfrm>
          <a:prstGeom prst="roundRect">
            <a:avLst>
              <a:gd name="adj" fmla="val 1317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898957" y="434678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898957" y="434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8836914" y="4538046"/>
            <a:ext cx="11409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686038" y="438717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686038" y="438717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044785" y="2057305"/>
            <a:ext cx="3907346" cy="2140458"/>
          </a:xfrm>
          <a:prstGeom prst="roundRect">
            <a:avLst>
              <a:gd name="adj" fmla="val 1709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893909" y="190642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893909" y="19064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Đặt tên, màu và nhóm (chưa làm / đang làm / xong) cho trạng thái dùng chung.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Trạng thái và màu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Nhóm trạng thái (chưa làm / đang làm / xong)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Hướng dẫn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Nhóm trạng thái quyết định task nào được tính là hoàn thành trong báo cáo và OKR.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Phân quyền trong dự án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53-project-permissions" descr="Phân quyền trong dự á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847903" y="4737058"/>
            <a:ext cx="4856417" cy="264165"/>
          </a:xfrm>
          <a:prstGeom prst="roundRect">
            <a:avLst>
              <a:gd name="adj" fmla="val 1384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697027" y="458618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697027" y="458618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932015" y="5042398"/>
            <a:ext cx="100965" cy="100965"/>
          </a:xfrm>
          <a:prstGeom prst="roundRect">
            <a:avLst>
              <a:gd name="adj" fmla="val 3622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7781139" y="489152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7781139" y="4891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842855" y="3874675"/>
            <a:ext cx="970211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691979" y="372379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691979" y="372379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8052069" y="3844385"/>
            <a:ext cx="304867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7901193" y="369350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7901193" y="369350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6842855" y="4026122"/>
            <a:ext cx="1502249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6691979" y="387524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6691979" y="387524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Cài đặt dự án: chủ dự án quyết định từng người được làm gì; chỉ áp dụng khi bấm Lưu.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Một dòng cho mỗi thành viên, tick quyền theo cột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Xem dự án: bỏ chọn để ẩn dự án với người đó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Dòng có thay đổi được tô vàng, báo số thay đổi chưa lưu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 (hoặc Huỷ)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Giải thích quyền và mẫu quyền điền nhanh cả dòng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Trong dự án, chủ dự án đứng trên Chủ sở hữu/Quản trị workspace; không ai vượt quá vai trò workspace của mình.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Chuyển giao dự án - chọn người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54-project-handover" descr="Chuyển giao dự án - chọn ngườ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029641" y="3337036"/>
            <a:ext cx="207987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878765" y="318616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878765" y="318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8561153" y="3766137"/>
            <a:ext cx="54836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410277" y="361526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410277" y="361526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Cài đặt dự án → dòng Chủ dự án → Chuyển giao.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chủ dự án mới (từ Biên tập trở lên)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Chuyển giao → sang bước xác nhận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Chỉ chủ dự án hiện tại mới chuyển giao được.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Chuyển giao dự án - xác nhận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54b-project-handover-confirm" descr="Chuyển giao dự án - xác nhậ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216426" y="3188113"/>
            <a:ext cx="1827467" cy="454343"/>
          </a:xfrm>
          <a:prstGeom prst="roundRect">
            <a:avLst>
              <a:gd name="adj" fmla="val 805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065550" y="303723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065550" y="303723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8258574" y="3758565"/>
            <a:ext cx="85094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107698" y="360768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107698" y="36076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Bước 2 nói rõ những gì sẽ thay đổi trước khi thực hiện.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Những gì sẽ thay đổi cho bạn và người nhận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Xác nhận chuyển giao (hoặc Quay lại)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Sau khi chuyển, bạn chỉ còn quyền mặc định theo vai trò workspace trong dự án.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Chuyển toàn bộ dữ liệu sang dự án khác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55-project-transfer" descr="Chuyển toàn bộ dữ liệu sang dự án khá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928675" y="4238228"/>
            <a:ext cx="1968818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777799" y="408735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777799" y="4087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928675" y="4460351"/>
            <a:ext cx="3422714" cy="1115584"/>
          </a:xfrm>
          <a:prstGeom prst="roundRect">
            <a:avLst>
              <a:gd name="adj" fmla="val 3279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777799" y="430947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777799" y="43094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928675" y="5278167"/>
            <a:ext cx="111062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777799" y="512729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777799" y="5127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6928675" y="5399325"/>
            <a:ext cx="982358" cy="176610"/>
          </a:xfrm>
          <a:prstGeom prst="roundRect">
            <a:avLst>
              <a:gd name="adj" fmla="val 207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6777799" y="524844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6777799" y="524844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Gộp dự án: task, bình luận, file, lịch sử, task con, cột, category, mục tiêu… sang dự án đích.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dự án đích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Xem trước số task, bình luận, file; cột/category dùng lại hay tạo mới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Tick xác nhận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Chuyển toàn bộ dữ liệu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Dữ liệu cũ của dự án đích được giữ nguyên (ghi tiếp, không ghi đè). Không có hoàn tác - thử trước với dự án nhỏ.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Chuyển quyền sở hữu workspace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56-ownership-transfer" descr="Chuyển quyền sở hữu worksp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029641" y="3233547"/>
            <a:ext cx="207987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878765" y="308267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878765" y="308267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029641" y="3556635"/>
            <a:ext cx="207987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878765" y="340575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878765" y="340575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029641" y="3788855"/>
            <a:ext cx="111062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878765" y="363797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878765" y="36379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8255340" y="3950399"/>
            <a:ext cx="854180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8104464" y="379952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8104464" y="37995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Cài đặt → Thành viên → Chuyển quyền sở hữu. Mỗi workspace luôn có đúng một chủ sở hữu.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chủ sở hữu mới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vai trò mới của bạn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Tick xác nhận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Chuyển quyền sở hữu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Nếu chủ sở hữu tự đổi vai trò của mình trong danh sách thành viên, hộp thoại này sẽ tự mở.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Những thay đổi khác trong bản 3.2</a:t>
            </a:r>
            <a:endParaRPr lang="en-US" sz="3000" dirty="0"/>
          </a:p>
        </p:txBody>
      </p:sp>
      <p:sp>
        <p:nvSpPr>
          <p:cNvPr id="3" name="Lead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Các cải tiến nhỏ giúp dữ liệu đầy đủ và dễ kiểm tra hơn.</a:t>
            </a:r>
            <a:endParaRPr lang="en-US" sz="14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năng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 dùng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Focus 25 phút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phiên mặc định 25 phút (đổi được), không lấy theo ước tính; dừng thì cộng vào giờ thực tế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Cột Ngày hoàn thành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Ngay sau Tiến độ; tự điền khi task sang Xong, tự xoá khi mở lại; sửa tay được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Kiểm tra khi Done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Thiếu giờ thực tế / ngày bắt đầu / hạn chót / ngày hoàn thành → popup hỏi điền bổ sung hay bỏ qua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Lưu vai trò thành viên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Đổi vai trò của nhiều người rồi bấm Lưu một lần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Bàn giao khi có người nghỉ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Cài đặt → Thành viên → Bàn giao dự án, mục tiêu, key result sang người khác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ghi nguồn ↗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Cạnh mỗi nhận định về task có chip ↗ - bấm để mở task trong tab mới; AI ghi rõ ai bình luận, ngày nào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Bảng trong câu trả lời AI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còn vỡ thành dấu "|" khi AI viết tiếp; app tự viết tiếp khi kết nối bị đứt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Tên nhóm khi kéo ngang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 Bảng có Nhóm: tên nhóm và số task luôn hiện bên trái, kể cả khi cố định cột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Trung tâm trợ giúp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52-help" descr="Trung tâm trợ giú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4480274" y="5074817"/>
            <a:ext cx="1115663" cy="174480"/>
          </a:xfrm>
          <a:prstGeom prst="roundRect">
            <a:avLst>
              <a:gd name="adj" fmla="val 2096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4329398" y="492394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4329398" y="492394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671661" y="2451068"/>
            <a:ext cx="115604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520785" y="230019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520785" y="2300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964013" y="1552480"/>
            <a:ext cx="2938082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813137" y="140160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813137" y="14016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6969062" y="2072450"/>
            <a:ext cx="3654933" cy="262509"/>
          </a:xfrm>
          <a:prstGeom prst="roundRect">
            <a:avLst>
              <a:gd name="adj" fmla="val 13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6818186" y="192157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6818186" y="19215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Mục Trợ giúp trên menu chính, ngay trên Cài đặt: hướng dẫn mọi tính năng, song ngữ Việt/Anh.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Trợ giúp trên menu chính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Mỗi tab ứng với một nhóm tính năng theo menu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Tìm trong trợ giúp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Chủ đề: tóm tắt, các bước Cách làm, mẹo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Địa chỉ trang giữ tab và chủ đề đang mở - sao chép gửi đồng nghiệp để họ mở đúng phần hướng dẫn.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Tìm trong trợ giúp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52b-help-search" descr="Tìm trong trợ giú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964013" y="1552480"/>
            <a:ext cx="2938082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813137" y="140160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813137" y="14016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964013" y="2072450"/>
            <a:ext cx="3665029" cy="473037"/>
          </a:xfrm>
          <a:prstGeom prst="roundRect">
            <a:avLst>
              <a:gd name="adj" fmla="val 773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813137" y="192157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813137" y="19215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Gõ từ khoá để tìm trên mọi tab; có dấu hay không dấu đều được.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Ô tìm kiếm (VD: lọc, focus, phân quyền)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Kết quả kèm tên tab - bấm để mở đúng chủ đề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Tab có nút Mở tính năng này để đi thẳng tới trang tương ứng.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Mẹo dùng woli hiệu quả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545336"/>
            <a:ext cx="338328" cy="3383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25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Bắt đầu ngày ở Trang chủ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647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Xem việc quá hạn, việc hôm nay rồi bấm Bắt đầu tập trung cho việc đầu tiên.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172200" y="13716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545336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086600" y="1325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Dọn Trung tâm xử lý mỗi ngày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086600" y="17647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Xử lý hoặc tạm hoãn từng việc để không bỏ sót phê duyệt, nhắc tên.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02920" y="29718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145536"/>
            <a:ext cx="338328" cy="33832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2926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Trao đổi ngay trên task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33649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Bình luận và @nhắc tên thay vì nhắn riêng, để lịch sử nằm cùng công việc.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172200" y="29718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3145536"/>
            <a:ext cx="338328" cy="33832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86600" y="2926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Tìm bằng Ctrl K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7086600" y="33649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Gõ tên task, dự án, người hoặc trang wiki để mở ngay.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502920" y="45720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745736"/>
            <a:ext cx="338328" cy="33832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17320" y="45262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Giao việc lặt vặt cho AI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417320" y="49651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Viết báo cáo tuần, tóm tắt file, tạo task từ JD - rồi kiểm tra lại.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6172200" y="45720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5936" y="4745736"/>
            <a:ext cx="338328" cy="33832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086600" y="45262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Bảo vệ dữ liệu nhân sự</a:t>
            </a:r>
            <a:endParaRPr lang="en-US" sz="1700" dirty="0"/>
          </a:p>
        </p:txBody>
      </p:sp>
      <p:sp>
        <p:nvSpPr>
          <p:cNvPr id="26" name="Text 18"/>
          <p:cNvSpPr txBox="1"/>
          <p:nvPr/>
        </p:nvSpPr>
        <p:spPr>
          <a:xfrm>
            <a:off x="7086600" y="49651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Ẩn dự án nhạy cảm với người không liên quan; AI chỉ dùng dữ liệu bạn được xem.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oli logo" descr="/home/user/hr-task-managent-CL/public/brand/woli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0952" y="1828800"/>
            <a:ext cx="1527048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2926080"/>
            <a:ext cx="9445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Sẵn sàng làm việc cùng woli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1828800" y="3840480"/>
            <a:ext cx="8531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EDD5"/>
                </a:solidFill>
              </a:rPr>
              <a:t>Cần hỗ trợ? Mở Trợ giúp trên menu chính, liên hệ quản trị workspace hoặc xem tài liệu Hướng dẫn sử dụng chi tiết (Word).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li">
  <a:themeElements>
    <a:clrScheme name="woli">
      <a:dk1>
        <a:srgbClr val="1C1917"/>
      </a:dk1>
      <a:lt1>
        <a:srgbClr val="FFFFFF"/>
      </a:lt1>
      <a:dk2>
        <a:srgbClr val="57534E"/>
      </a:dk2>
      <a:lt2>
        <a:srgbClr val="FFF7ED"/>
      </a:lt2>
      <a:accent1>
        <a:srgbClr val="EA580C"/>
      </a:accent1>
      <a:accent2>
        <a:srgbClr val="C2410C"/>
      </a:accent2>
      <a:accent3>
        <a:srgbClr val="FFEDD5"/>
      </a:accent3>
      <a:accent4>
        <a:srgbClr val="0EA5E9"/>
      </a:accent4>
      <a:accent5>
        <a:srgbClr val="22C55E"/>
      </a:accent5>
      <a:accent6>
        <a:srgbClr val="A855F7"/>
      </a:accent6>
      <a:hlink>
        <a:srgbClr val="EA580C"/>
      </a:hlink>
      <a:folHlink>
        <a:srgbClr val="C2410C"/>
      </a:folHlink>
    </a:clrScheme>
    <a:fontScheme name="wol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woli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Hướng dẫn sử dụng woli</dc:title>
  <dc:subject>PptxGenJS Presentation</dc:subject>
  <dc:creator>woli</dc:creator>
  <cp:lastModifiedBy>woli</cp:lastModifiedBy>
  <cp:revision>1</cp:revision>
  <dcterms:created xsi:type="dcterms:W3CDTF">2026-10-16T14:05:18Z</dcterms:created>
  <dcterms:modified xsi:type="dcterms:W3CDTF">2026-10-16T14:05:18Z</dcterms:modified>
</cp:coreProperties>
</file>